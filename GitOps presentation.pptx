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556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team. The one idea for today: in our project a deployment is a Git commit. Nobody runs kubectl against the cluster. CI only writes to Git, and ArgoCD inside the cluster makes the cluster match Git.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push model most teams use. The CI tool builds the image and then deploys it by running kubectl or helm from outside the cluster. That needs admin credentials stored in CI. Drift example: an admin scales pods by hand at 2 am, nobody records it, and the next deploy behaves differently. Rollback means re-running a pipeline instead of returning to a known good state.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GitOps follows the four OpenGitOps principles on the left. Declarative is like React: you describe the result you want and the framework works out the steps. The key line in the table: CI never talks to the cluster. It only writes to Git. ArgoCD, running inside the cluster, pulls from Git.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objectives come from our review 1 document. The live demo later checks each one, and slide 10 maps each objective to what the demo showed.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arrows left to right. The developer pushes to the todo-app repo. CI runs tests, builds the image tagged with the commit SHA, pushes it to the registry, then commits the new tag to the argo-deployment repo. ArgoCD inside the cluster checks that repo every 10 seconds and applies the change. Point at the dashed line: CI and the cluster never talk directly. Git is the only link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1 to 3 are the push half. CI does them and finishes with a git push to the config repo. Steps 4 and 5 are the pull half. ArgoCD does them inside the cluster. The rolling update settings in the manifest mean there are always 3 ready pods during a deploy.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ran every cloud part locally so the demo needs no internet and no cloud account. Each local piece maps one to one to the usual hosted tool. The repo also has prod.yml, the GitHub Actions version of the same pipeline, for running it against GitHub and Docker Hub.</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ArgoCD Application. It points at the config repo and has automated sync with prune and selfHeal. Self-heal is what reverts manual changes. Prune removes resources that were deleted from Git. We also changed ArgoCD's polling from the default 3 minutes to 10 seconds. Right: the CI side. It builds, pushes the image, edits one line in the manifest, commits and pushes. That is the end of CI.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the live system. 1: run release, point at the CI terminal, then ArgoCD, then the app header. 2: show the CI Bot commit in Gitea, one changed line. 3: drift-demo, ArgoCD restores 3 replicas and the service. 4: rollback, the app returns to the previous version. 5: release broken, CI prints not ok and pipeline FAILED, the cluster is untouched. Run fix-broken afterwards. If the demo fails, go to the next slide and show the measured numbers.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numbers came from our own runs with ArgoCD checking Git every 10 seconds. A production setup would use a Git webhook so sync starts instantly. On the right, each objective from slide 4 and what the demo showed for it. When the broken release was pushed, the test failed inside docker build, so no image and no Git change happened.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Helm packages Kubernetes YAML into reusable charts with values files. ArgoCD deploys a Helm chart from Git the same way it deploys plain YAML. Secrets are out of scope here because the app has none, but Sealed Secrets or External Secrets Operator would be the next step.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Likely questions. Why two repos: clean deploy history, separate ownership, and CI commits can't trigger CI in a loop. Push vs pull: in pull, cluster credentials never leave the cluster. ArgoCD vs Flux: both pull from Git; ArgoCD has a UI with a live resource tree. Git down: the cluster keeps running its current state, new deploys wait. Secrets: not in plain Git; Sealed Secrets, SOPS or External Secrets Operator.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1"/>
          <p:cNvSpPr txBox="1"/>
          <p:nvPr/>
        </p:nvSpPr>
        <p:spPr>
          <a:xfrm>
            <a:off x="822960" y="731520"/>
            <a:ext cx="10058400" cy="274320"/>
          </a:xfrm>
          <a:prstGeom prst="rect">
            <a:avLst/>
          </a:prstGeom>
          <a:noFill/>
        </p:spPr>
        <p:txBody>
          <a:bodyPr wrap="square" lIns="0" tIns="0" rIns="0" bIns="0" anchor="t">
            <a:spAutoFit/>
          </a:bodyPr>
          <a:lstStyle/>
          <a:p>
            <a:pPr algn="l"/>
            <a:r>
              <a:rPr sz="1200" b="0" i="0">
                <a:solidFill>
                  <a:srgbClr val="D24E25"/>
                </a:solidFill>
                <a:latin typeface="Consolas"/>
              </a:rPr>
              <a:t>Software Configuration Management  /  project review</a:t>
            </a:r>
          </a:p>
        </p:txBody>
      </p:sp>
      <p:sp>
        <p:nvSpPr>
          <p:cNvPr id="3" name="TextBox 2"/>
          <p:cNvSpPr txBox="1"/>
          <p:nvPr/>
        </p:nvSpPr>
        <p:spPr>
          <a:xfrm>
            <a:off x="822960" y="1828800"/>
            <a:ext cx="10515600" cy="2011680"/>
          </a:xfrm>
          <a:prstGeom prst="rect">
            <a:avLst/>
          </a:prstGeom>
          <a:noFill/>
        </p:spPr>
        <p:txBody>
          <a:bodyPr wrap="square" lIns="0" tIns="0" rIns="0" bIns="0" anchor="t">
            <a:spAutoFit/>
          </a:bodyPr>
          <a:lstStyle/>
          <a:p>
            <a:pPr algn="l"/>
            <a:r>
              <a:rPr sz="6400" b="0" i="0">
                <a:solidFill>
                  <a:srgbClr val="EEEAE0"/>
                </a:solidFill>
                <a:latin typeface="Georgia"/>
              </a:rPr>
              <a:t>A deployment</a:t>
            </a:r>
          </a:p>
          <a:p>
            <a:pPr algn="l"/>
            <a:r>
              <a:rPr sz="6400" b="0" i="0">
                <a:solidFill>
                  <a:srgbClr val="EEEAE0"/>
                </a:solidFill>
                <a:latin typeface="Georgia"/>
              </a:rPr>
              <a:t>is a Git commit.</a:t>
            </a:r>
          </a:p>
        </p:txBody>
      </p:sp>
      <p:sp>
        <p:nvSpPr>
          <p:cNvPr id="4" name="TextBox 3"/>
          <p:cNvSpPr txBox="1"/>
          <p:nvPr/>
        </p:nvSpPr>
        <p:spPr>
          <a:xfrm>
            <a:off x="822960" y="3977639"/>
            <a:ext cx="9144000" cy="457200"/>
          </a:xfrm>
          <a:prstGeom prst="rect">
            <a:avLst/>
          </a:prstGeom>
          <a:noFill/>
        </p:spPr>
        <p:txBody>
          <a:bodyPr wrap="square" lIns="0" tIns="0" rIns="0" bIns="0" anchor="t">
            <a:spAutoFit/>
          </a:bodyPr>
          <a:lstStyle/>
          <a:p>
            <a:pPr algn="l"/>
            <a:r>
              <a:rPr sz="2000" b="0" i="0">
                <a:solidFill>
                  <a:srgbClr val="9A968E"/>
                </a:solidFill>
                <a:latin typeface="Segoe UI"/>
              </a:rPr>
              <a:t>GitOps-based continuous deployment on Kubernetes, using ArgoCD</a:t>
            </a:r>
          </a:p>
        </p:txBody>
      </p:sp>
      <p:cxnSp>
        <p:nvCxnSpPr>
          <p:cNvPr id="5" name="Connector 4"/>
          <p:cNvCxnSpPr/>
          <p:nvPr/>
        </p:nvCxnSpPr>
        <p:spPr>
          <a:xfrm>
            <a:off x="822960" y="5212080"/>
            <a:ext cx="10543032" cy="0"/>
          </a:xfrm>
          <a:prstGeom prst="line">
            <a:avLst/>
          </a:prstGeom>
          <a:ln w="9525">
            <a:solidFill>
              <a:srgbClr val="3A3A38"/>
            </a:solidFill>
          </a:ln>
        </p:spPr>
      </p:cxnSp>
      <p:sp>
        <p:nvSpPr>
          <p:cNvPr id="6" name="TextBox 5"/>
          <p:cNvSpPr txBox="1"/>
          <p:nvPr/>
        </p:nvSpPr>
        <p:spPr>
          <a:xfrm>
            <a:off x="822960" y="5394960"/>
            <a:ext cx="4572000" cy="274320"/>
          </a:xfrm>
          <a:prstGeom prst="rect">
            <a:avLst/>
          </a:prstGeom>
          <a:noFill/>
        </p:spPr>
        <p:txBody>
          <a:bodyPr wrap="square" lIns="0" tIns="0" rIns="0" bIns="0" anchor="t">
            <a:spAutoFit/>
          </a:bodyPr>
          <a:lstStyle/>
          <a:p>
            <a:pPr algn="l"/>
            <a:r>
              <a:rPr sz="1000" b="0" i="0">
                <a:solidFill>
                  <a:srgbClr val="9A968E"/>
                </a:solidFill>
                <a:latin typeface="Consolas"/>
              </a:rPr>
              <a:t>TEAM</a:t>
            </a:r>
          </a:p>
        </p:txBody>
      </p:sp>
      <p:sp>
        <p:nvSpPr>
          <p:cNvPr id="7" name="TextBox 6"/>
          <p:cNvSpPr txBox="1"/>
          <p:nvPr/>
        </p:nvSpPr>
        <p:spPr>
          <a:xfrm>
            <a:off x="822960" y="5669280"/>
            <a:ext cx="5029200" cy="230832"/>
          </a:xfrm>
          <a:prstGeom prst="rect">
            <a:avLst/>
          </a:prstGeom>
          <a:noFill/>
        </p:spPr>
        <p:txBody>
          <a:bodyPr wrap="square" lIns="0" tIns="0" rIns="0" bIns="0" anchor="t">
            <a:spAutoFit/>
          </a:bodyPr>
          <a:lstStyle/>
          <a:p>
            <a:pPr algn="l"/>
            <a:r>
              <a:rPr lang="en-US" sz="1500" b="0" i="0" dirty="0">
                <a:solidFill>
                  <a:srgbClr val="EEEAE0"/>
                </a:solidFill>
                <a:latin typeface="Segoe UI"/>
              </a:rPr>
              <a:t>Pallab, Vaibhav</a:t>
            </a:r>
            <a:endParaRPr sz="1500" b="0" i="0" dirty="0">
              <a:solidFill>
                <a:srgbClr val="EEEAE0"/>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02   The problem</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Today, the CI server reaches into production</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02 / 12</a:t>
            </a:r>
          </a:p>
        </p:txBody>
      </p:sp>
      <p:sp>
        <p:nvSpPr>
          <p:cNvPr id="7" name="Rectangle 6"/>
          <p:cNvSpPr/>
          <p:nvPr/>
        </p:nvSpPr>
        <p:spPr>
          <a:xfrm>
            <a:off x="640080" y="2011680"/>
            <a:ext cx="1828800" cy="777240"/>
          </a:xfrm>
          <a:prstGeom prst="rect">
            <a:avLst/>
          </a:prstGeom>
          <a:noFill/>
          <a:ln w="12700">
            <a:solidFill>
              <a:srgbClr val="171717"/>
            </a:solidFill>
          </a:ln>
          <a:effectLst/>
        </p:spPr>
        <p:txBody>
          <a:bodyPr rtlCol="0" anchor="ctr"/>
          <a:lstStyle/>
          <a:p>
            <a:pPr algn="ctr"/>
            <a:endParaRPr/>
          </a:p>
        </p:txBody>
      </p:sp>
      <p:sp>
        <p:nvSpPr>
          <p:cNvPr id="8" name="TextBox 7"/>
          <p:cNvSpPr txBox="1"/>
          <p:nvPr/>
        </p:nvSpPr>
        <p:spPr>
          <a:xfrm>
            <a:off x="731519" y="2011680"/>
            <a:ext cx="1645920" cy="777240"/>
          </a:xfrm>
          <a:prstGeom prst="rect">
            <a:avLst/>
          </a:prstGeom>
          <a:noFill/>
        </p:spPr>
        <p:txBody>
          <a:bodyPr wrap="square" lIns="0" tIns="0" rIns="0" bIns="0" anchor="ctr">
            <a:spAutoFit/>
          </a:bodyPr>
          <a:lstStyle/>
          <a:p>
            <a:pPr algn="ctr"/>
            <a:r>
              <a:rPr sz="1400" b="1" i="0">
                <a:solidFill>
                  <a:srgbClr val="171717"/>
                </a:solidFill>
                <a:latin typeface="Segoe UI"/>
              </a:rPr>
              <a:t>Developer</a:t>
            </a:r>
          </a:p>
        </p:txBody>
      </p:sp>
      <p:sp>
        <p:nvSpPr>
          <p:cNvPr id="9" name="Rectangle 8"/>
          <p:cNvSpPr/>
          <p:nvPr/>
        </p:nvSpPr>
        <p:spPr>
          <a:xfrm>
            <a:off x="3063240" y="2011680"/>
            <a:ext cx="2011680" cy="777240"/>
          </a:xfrm>
          <a:prstGeom prst="rect">
            <a:avLst/>
          </a:prstGeom>
          <a:noFill/>
          <a:ln w="12700">
            <a:solidFill>
              <a:srgbClr val="171717"/>
            </a:solidFill>
          </a:ln>
          <a:effectLst/>
        </p:spPr>
        <p:txBody>
          <a:bodyPr rtlCol="0" anchor="ctr"/>
          <a:lstStyle/>
          <a:p>
            <a:pPr algn="ctr"/>
            <a:endParaRPr/>
          </a:p>
        </p:txBody>
      </p:sp>
      <p:sp>
        <p:nvSpPr>
          <p:cNvPr id="10" name="TextBox 9"/>
          <p:cNvSpPr txBox="1"/>
          <p:nvPr/>
        </p:nvSpPr>
        <p:spPr>
          <a:xfrm>
            <a:off x="3154680" y="2011680"/>
            <a:ext cx="1828800" cy="777240"/>
          </a:xfrm>
          <a:prstGeom prst="rect">
            <a:avLst/>
          </a:prstGeom>
          <a:noFill/>
        </p:spPr>
        <p:txBody>
          <a:bodyPr wrap="square" lIns="0" tIns="0" rIns="0" bIns="0" anchor="ctr">
            <a:spAutoFit/>
          </a:bodyPr>
          <a:lstStyle/>
          <a:p>
            <a:pPr algn="ctr"/>
            <a:r>
              <a:rPr sz="1400" b="1" i="0">
                <a:solidFill>
                  <a:srgbClr val="171717"/>
                </a:solidFill>
                <a:latin typeface="Segoe UI"/>
              </a:rPr>
              <a:t>Git repo</a:t>
            </a:r>
          </a:p>
          <a:p>
            <a:pPr algn="ctr"/>
            <a:r>
              <a:rPr sz="1100" b="0" i="0">
                <a:solidFill>
                  <a:srgbClr val="6B6760"/>
                </a:solidFill>
                <a:latin typeface="Consolas"/>
              </a:rPr>
              <a:t>app source</a:t>
            </a:r>
          </a:p>
        </p:txBody>
      </p:sp>
      <p:sp>
        <p:nvSpPr>
          <p:cNvPr id="11" name="Rectangle 10"/>
          <p:cNvSpPr/>
          <p:nvPr/>
        </p:nvSpPr>
        <p:spPr>
          <a:xfrm>
            <a:off x="5669280" y="2011680"/>
            <a:ext cx="2194560" cy="777240"/>
          </a:xfrm>
          <a:prstGeom prst="rect">
            <a:avLst/>
          </a:prstGeom>
          <a:noFill/>
          <a:ln w="12700">
            <a:solidFill>
              <a:srgbClr val="171717"/>
            </a:solidFill>
          </a:ln>
          <a:effectLst/>
        </p:spPr>
        <p:txBody>
          <a:bodyPr rtlCol="0" anchor="ctr"/>
          <a:lstStyle/>
          <a:p>
            <a:pPr algn="ctr"/>
            <a:endParaRPr/>
          </a:p>
        </p:txBody>
      </p:sp>
      <p:sp>
        <p:nvSpPr>
          <p:cNvPr id="12" name="TextBox 11"/>
          <p:cNvSpPr txBox="1"/>
          <p:nvPr/>
        </p:nvSpPr>
        <p:spPr>
          <a:xfrm>
            <a:off x="5760720" y="2011680"/>
            <a:ext cx="2011679" cy="777240"/>
          </a:xfrm>
          <a:prstGeom prst="rect">
            <a:avLst/>
          </a:prstGeom>
          <a:noFill/>
        </p:spPr>
        <p:txBody>
          <a:bodyPr wrap="square" lIns="0" tIns="0" rIns="0" bIns="0" anchor="ctr">
            <a:spAutoFit/>
          </a:bodyPr>
          <a:lstStyle/>
          <a:p>
            <a:pPr algn="ctr"/>
            <a:r>
              <a:rPr sz="1400" b="1" i="0">
                <a:solidFill>
                  <a:srgbClr val="171717"/>
                </a:solidFill>
                <a:latin typeface="Segoe UI"/>
              </a:rPr>
              <a:t>CI server</a:t>
            </a:r>
          </a:p>
          <a:p>
            <a:pPr algn="ctr"/>
            <a:r>
              <a:rPr sz="1100" b="0" i="0">
                <a:solidFill>
                  <a:srgbClr val="6B6760"/>
                </a:solidFill>
                <a:latin typeface="Consolas"/>
              </a:rPr>
              <a:t>Jenkins / Actions</a:t>
            </a:r>
          </a:p>
        </p:txBody>
      </p:sp>
      <p:sp>
        <p:nvSpPr>
          <p:cNvPr id="13" name="Rectangle 12"/>
          <p:cNvSpPr/>
          <p:nvPr/>
        </p:nvSpPr>
        <p:spPr>
          <a:xfrm>
            <a:off x="9537192" y="2011680"/>
            <a:ext cx="2011680" cy="777240"/>
          </a:xfrm>
          <a:prstGeom prst="rect">
            <a:avLst/>
          </a:prstGeom>
          <a:solidFill>
            <a:srgbClr val="171717"/>
          </a:solidFill>
          <a:ln w="12700">
            <a:solidFill>
              <a:srgbClr val="171717"/>
            </a:solidFill>
          </a:ln>
          <a:effectLst/>
        </p:spPr>
        <p:txBody>
          <a:bodyPr rtlCol="0" anchor="ctr"/>
          <a:lstStyle/>
          <a:p>
            <a:pPr algn="ctr"/>
            <a:endParaRPr/>
          </a:p>
        </p:txBody>
      </p:sp>
      <p:sp>
        <p:nvSpPr>
          <p:cNvPr id="14" name="TextBox 13"/>
          <p:cNvSpPr txBox="1"/>
          <p:nvPr/>
        </p:nvSpPr>
        <p:spPr>
          <a:xfrm>
            <a:off x="9628632" y="2011680"/>
            <a:ext cx="1828800" cy="777240"/>
          </a:xfrm>
          <a:prstGeom prst="rect">
            <a:avLst/>
          </a:prstGeom>
          <a:noFill/>
        </p:spPr>
        <p:txBody>
          <a:bodyPr wrap="square" lIns="0" tIns="0" rIns="0" bIns="0" anchor="ctr">
            <a:spAutoFit/>
          </a:bodyPr>
          <a:lstStyle/>
          <a:p>
            <a:pPr algn="ctr"/>
            <a:r>
              <a:rPr sz="1400" b="1" i="0">
                <a:solidFill>
                  <a:srgbClr val="EEEAE0"/>
                </a:solidFill>
                <a:latin typeface="Segoe UI"/>
              </a:rPr>
              <a:t>Production cluster</a:t>
            </a:r>
          </a:p>
          <a:p>
            <a:pPr algn="ctr"/>
            <a:r>
              <a:rPr sz="1100" b="0" i="0">
                <a:solidFill>
                  <a:srgbClr val="EEEAE0"/>
                </a:solidFill>
                <a:latin typeface="Consolas"/>
              </a:rPr>
              <a:t>Kubernetes</a:t>
            </a:r>
          </a:p>
        </p:txBody>
      </p:sp>
      <p:cxnSp>
        <p:nvCxnSpPr>
          <p:cNvPr id="15" name="Connector 14"/>
          <p:cNvCxnSpPr/>
          <p:nvPr/>
        </p:nvCxnSpPr>
        <p:spPr>
          <a:xfrm>
            <a:off x="2468880" y="2400300"/>
            <a:ext cx="594360" cy="0"/>
          </a:xfrm>
          <a:prstGeom prst="line">
            <a:avLst/>
          </a:prstGeom>
          <a:ln w="12700">
            <a:solidFill>
              <a:srgbClr val="171717"/>
            </a:solidFill>
            <a:tailEnd type="triangle" w="med" len="med"/>
          </a:ln>
        </p:spPr>
      </p:cxnSp>
      <p:cxnSp>
        <p:nvCxnSpPr>
          <p:cNvPr id="16" name="Connector 15"/>
          <p:cNvCxnSpPr/>
          <p:nvPr/>
        </p:nvCxnSpPr>
        <p:spPr>
          <a:xfrm>
            <a:off x="5074920" y="2400300"/>
            <a:ext cx="594360" cy="0"/>
          </a:xfrm>
          <a:prstGeom prst="line">
            <a:avLst/>
          </a:prstGeom>
          <a:ln w="12700">
            <a:solidFill>
              <a:srgbClr val="171717"/>
            </a:solidFill>
            <a:tailEnd type="triangle" w="med" len="med"/>
          </a:ln>
        </p:spPr>
      </p:cxnSp>
      <p:cxnSp>
        <p:nvCxnSpPr>
          <p:cNvPr id="17" name="Connector 16"/>
          <p:cNvCxnSpPr/>
          <p:nvPr/>
        </p:nvCxnSpPr>
        <p:spPr>
          <a:xfrm>
            <a:off x="7863840" y="2400300"/>
            <a:ext cx="1673352" cy="0"/>
          </a:xfrm>
          <a:prstGeom prst="line">
            <a:avLst/>
          </a:prstGeom>
          <a:ln w="28575">
            <a:solidFill>
              <a:srgbClr val="D24E25"/>
            </a:solidFill>
            <a:tailEnd type="triangle" w="med" len="med"/>
          </a:ln>
        </p:spPr>
      </p:cxnSp>
      <p:sp>
        <p:nvSpPr>
          <p:cNvPr id="18" name="TextBox 17"/>
          <p:cNvSpPr txBox="1"/>
          <p:nvPr/>
        </p:nvSpPr>
        <p:spPr>
          <a:xfrm>
            <a:off x="7863840" y="1965960"/>
            <a:ext cx="1673352" cy="365760"/>
          </a:xfrm>
          <a:prstGeom prst="rect">
            <a:avLst/>
          </a:prstGeom>
          <a:noFill/>
        </p:spPr>
        <p:txBody>
          <a:bodyPr wrap="square" lIns="0" tIns="0" rIns="0" bIns="0" anchor="t">
            <a:spAutoFit/>
          </a:bodyPr>
          <a:lstStyle/>
          <a:p>
            <a:pPr algn="ctr"/>
            <a:r>
              <a:rPr sz="1100" b="0" i="0">
                <a:solidFill>
                  <a:srgbClr val="D24E25"/>
                </a:solidFill>
                <a:latin typeface="Consolas"/>
              </a:rPr>
              <a:t>kubectl apply</a:t>
            </a:r>
          </a:p>
        </p:txBody>
      </p:sp>
      <p:sp>
        <p:nvSpPr>
          <p:cNvPr id="19" name="TextBox 18"/>
          <p:cNvSpPr txBox="1"/>
          <p:nvPr/>
        </p:nvSpPr>
        <p:spPr>
          <a:xfrm>
            <a:off x="7863840" y="2514600"/>
            <a:ext cx="1673352" cy="365760"/>
          </a:xfrm>
          <a:prstGeom prst="rect">
            <a:avLst/>
          </a:prstGeom>
          <a:noFill/>
        </p:spPr>
        <p:txBody>
          <a:bodyPr wrap="square" lIns="0" tIns="0" rIns="0" bIns="0" anchor="t">
            <a:spAutoFit/>
          </a:bodyPr>
          <a:lstStyle/>
          <a:p>
            <a:pPr algn="ctr"/>
            <a:r>
              <a:rPr sz="1100" b="0" i="0">
                <a:solidFill>
                  <a:srgbClr val="D24E25"/>
                </a:solidFill>
                <a:latin typeface="Consolas"/>
              </a:rPr>
              <a:t>admin credentials</a:t>
            </a:r>
          </a:p>
        </p:txBody>
      </p:sp>
      <p:cxnSp>
        <p:nvCxnSpPr>
          <p:cNvPr id="20" name="Connector 19"/>
          <p:cNvCxnSpPr/>
          <p:nvPr/>
        </p:nvCxnSpPr>
        <p:spPr>
          <a:xfrm>
            <a:off x="640080" y="3429000"/>
            <a:ext cx="10908792" cy="0"/>
          </a:xfrm>
          <a:prstGeom prst="line">
            <a:avLst/>
          </a:prstGeom>
          <a:ln w="9525">
            <a:solidFill>
              <a:srgbClr val="CFC9BC"/>
            </a:solidFill>
          </a:ln>
        </p:spPr>
      </p:cxnSp>
      <p:sp>
        <p:nvSpPr>
          <p:cNvPr id="21" name="TextBox 20"/>
          <p:cNvSpPr txBox="1"/>
          <p:nvPr/>
        </p:nvSpPr>
        <p:spPr>
          <a:xfrm>
            <a:off x="640080" y="3657600"/>
            <a:ext cx="3383280" cy="274320"/>
          </a:xfrm>
          <a:prstGeom prst="rect">
            <a:avLst/>
          </a:prstGeom>
          <a:noFill/>
        </p:spPr>
        <p:txBody>
          <a:bodyPr wrap="square" lIns="0" tIns="0" rIns="0" bIns="0" anchor="t">
            <a:spAutoFit/>
          </a:bodyPr>
          <a:lstStyle/>
          <a:p>
            <a:pPr algn="l"/>
            <a:r>
              <a:rPr sz="1200" b="0" i="0">
                <a:solidFill>
                  <a:srgbClr val="D24E25"/>
                </a:solidFill>
                <a:latin typeface="Consolas"/>
              </a:rPr>
              <a:t>01</a:t>
            </a:r>
          </a:p>
        </p:txBody>
      </p:sp>
      <p:sp>
        <p:nvSpPr>
          <p:cNvPr id="22" name="TextBox 21"/>
          <p:cNvSpPr txBox="1"/>
          <p:nvPr/>
        </p:nvSpPr>
        <p:spPr>
          <a:xfrm>
            <a:off x="640080" y="3977639"/>
            <a:ext cx="3383280" cy="457200"/>
          </a:xfrm>
          <a:prstGeom prst="rect">
            <a:avLst/>
          </a:prstGeom>
          <a:noFill/>
        </p:spPr>
        <p:txBody>
          <a:bodyPr wrap="square" lIns="0" tIns="0" rIns="0" bIns="0" anchor="t">
            <a:spAutoFit/>
          </a:bodyPr>
          <a:lstStyle/>
          <a:p>
            <a:pPr algn="l"/>
            <a:r>
              <a:rPr sz="2000" b="0" i="0">
                <a:solidFill>
                  <a:srgbClr val="171717"/>
                </a:solidFill>
                <a:latin typeface="Georgia"/>
              </a:rPr>
              <a:t>Credentials sit in CI</a:t>
            </a:r>
          </a:p>
        </p:txBody>
      </p:sp>
      <p:sp>
        <p:nvSpPr>
          <p:cNvPr id="23" name="TextBox 22"/>
          <p:cNvSpPr txBox="1"/>
          <p:nvPr/>
        </p:nvSpPr>
        <p:spPr>
          <a:xfrm>
            <a:off x="640080" y="4526280"/>
            <a:ext cx="3291840" cy="1463040"/>
          </a:xfrm>
          <a:prstGeom prst="rect">
            <a:avLst/>
          </a:prstGeom>
          <a:noFill/>
        </p:spPr>
        <p:txBody>
          <a:bodyPr wrap="square" lIns="0" tIns="0" rIns="0" bIns="0" anchor="t">
            <a:spAutoFit/>
          </a:bodyPr>
          <a:lstStyle/>
          <a:p>
            <a:pPr algn="l"/>
            <a:r>
              <a:rPr sz="1400" b="0" i="0">
                <a:solidFill>
                  <a:srgbClr val="6B6760"/>
                </a:solidFill>
                <a:latin typeface="Segoe UI"/>
              </a:rPr>
              <a:t>The CI server stores a production kubeconfig. Anyone who breaks into CI can change the cluster.</a:t>
            </a:r>
          </a:p>
        </p:txBody>
      </p:sp>
      <p:sp>
        <p:nvSpPr>
          <p:cNvPr id="24" name="TextBox 23"/>
          <p:cNvSpPr txBox="1"/>
          <p:nvPr/>
        </p:nvSpPr>
        <p:spPr>
          <a:xfrm>
            <a:off x="4343400" y="3657600"/>
            <a:ext cx="3383280" cy="274320"/>
          </a:xfrm>
          <a:prstGeom prst="rect">
            <a:avLst/>
          </a:prstGeom>
          <a:noFill/>
        </p:spPr>
        <p:txBody>
          <a:bodyPr wrap="square" lIns="0" tIns="0" rIns="0" bIns="0" anchor="t">
            <a:spAutoFit/>
          </a:bodyPr>
          <a:lstStyle/>
          <a:p>
            <a:pPr algn="l"/>
            <a:r>
              <a:rPr sz="1200" b="0" i="0">
                <a:solidFill>
                  <a:srgbClr val="D24E25"/>
                </a:solidFill>
                <a:latin typeface="Consolas"/>
              </a:rPr>
              <a:t>02</a:t>
            </a:r>
          </a:p>
        </p:txBody>
      </p:sp>
      <p:sp>
        <p:nvSpPr>
          <p:cNvPr id="25" name="TextBox 24"/>
          <p:cNvSpPr txBox="1"/>
          <p:nvPr/>
        </p:nvSpPr>
        <p:spPr>
          <a:xfrm>
            <a:off x="4343400" y="3977639"/>
            <a:ext cx="3383280" cy="457200"/>
          </a:xfrm>
          <a:prstGeom prst="rect">
            <a:avLst/>
          </a:prstGeom>
          <a:noFill/>
        </p:spPr>
        <p:txBody>
          <a:bodyPr wrap="square" lIns="0" tIns="0" rIns="0" bIns="0" anchor="t">
            <a:spAutoFit/>
          </a:bodyPr>
          <a:lstStyle/>
          <a:p>
            <a:pPr algn="l"/>
            <a:r>
              <a:rPr sz="2000" b="0" i="0">
                <a:solidFill>
                  <a:srgbClr val="171717"/>
                </a:solidFill>
                <a:latin typeface="Georgia"/>
              </a:rPr>
              <a:t>Configuration drift</a:t>
            </a:r>
          </a:p>
        </p:txBody>
      </p:sp>
      <p:sp>
        <p:nvSpPr>
          <p:cNvPr id="26" name="TextBox 25"/>
          <p:cNvSpPr txBox="1"/>
          <p:nvPr/>
        </p:nvSpPr>
        <p:spPr>
          <a:xfrm>
            <a:off x="4343400" y="4526280"/>
            <a:ext cx="3291840" cy="1463040"/>
          </a:xfrm>
          <a:prstGeom prst="rect">
            <a:avLst/>
          </a:prstGeom>
          <a:noFill/>
        </p:spPr>
        <p:txBody>
          <a:bodyPr wrap="square" lIns="0" tIns="0" rIns="0" bIns="0" anchor="t">
            <a:spAutoFit/>
          </a:bodyPr>
          <a:lstStyle/>
          <a:p>
            <a:pPr algn="l"/>
            <a:r>
              <a:rPr sz="1400" b="0" i="0">
                <a:solidFill>
                  <a:srgbClr val="6B6760"/>
                </a:solidFill>
                <a:latin typeface="Segoe UI"/>
              </a:rPr>
              <a:t>An admin runs kubectl edit or scales pods by hand. Git no longer describes what is running.</a:t>
            </a:r>
          </a:p>
        </p:txBody>
      </p:sp>
      <p:sp>
        <p:nvSpPr>
          <p:cNvPr id="27" name="TextBox 26"/>
          <p:cNvSpPr txBox="1"/>
          <p:nvPr/>
        </p:nvSpPr>
        <p:spPr>
          <a:xfrm>
            <a:off x="8046719" y="3657600"/>
            <a:ext cx="3383280" cy="274320"/>
          </a:xfrm>
          <a:prstGeom prst="rect">
            <a:avLst/>
          </a:prstGeom>
          <a:noFill/>
        </p:spPr>
        <p:txBody>
          <a:bodyPr wrap="square" lIns="0" tIns="0" rIns="0" bIns="0" anchor="t">
            <a:spAutoFit/>
          </a:bodyPr>
          <a:lstStyle/>
          <a:p>
            <a:pPr algn="l"/>
            <a:r>
              <a:rPr sz="1200" b="0" i="0">
                <a:solidFill>
                  <a:srgbClr val="D24E25"/>
                </a:solidFill>
                <a:latin typeface="Consolas"/>
              </a:rPr>
              <a:t>03</a:t>
            </a:r>
          </a:p>
        </p:txBody>
      </p:sp>
      <p:sp>
        <p:nvSpPr>
          <p:cNvPr id="28" name="TextBox 27"/>
          <p:cNvSpPr txBox="1"/>
          <p:nvPr/>
        </p:nvSpPr>
        <p:spPr>
          <a:xfrm>
            <a:off x="8046719" y="3977639"/>
            <a:ext cx="3383280" cy="457200"/>
          </a:xfrm>
          <a:prstGeom prst="rect">
            <a:avLst/>
          </a:prstGeom>
          <a:noFill/>
        </p:spPr>
        <p:txBody>
          <a:bodyPr wrap="square" lIns="0" tIns="0" rIns="0" bIns="0" anchor="t">
            <a:spAutoFit/>
          </a:bodyPr>
          <a:lstStyle/>
          <a:p>
            <a:pPr algn="l"/>
            <a:r>
              <a:rPr sz="2000" b="0" i="0">
                <a:solidFill>
                  <a:srgbClr val="171717"/>
                </a:solidFill>
                <a:latin typeface="Georgia"/>
              </a:rPr>
              <a:t>Rollback is a re-run</a:t>
            </a:r>
          </a:p>
        </p:txBody>
      </p:sp>
      <p:sp>
        <p:nvSpPr>
          <p:cNvPr id="29" name="TextBox 28"/>
          <p:cNvSpPr txBox="1"/>
          <p:nvPr/>
        </p:nvSpPr>
        <p:spPr>
          <a:xfrm>
            <a:off x="8046719" y="4526280"/>
            <a:ext cx="3291840" cy="1463040"/>
          </a:xfrm>
          <a:prstGeom prst="rect">
            <a:avLst/>
          </a:prstGeom>
          <a:noFill/>
        </p:spPr>
        <p:txBody>
          <a:bodyPr wrap="square" lIns="0" tIns="0" rIns="0" bIns="0" anchor="t">
            <a:spAutoFit/>
          </a:bodyPr>
          <a:lstStyle/>
          <a:p>
            <a:pPr algn="l"/>
            <a:r>
              <a:rPr sz="1400" b="0" i="0">
                <a:solidFill>
                  <a:srgbClr val="6B6760"/>
                </a:solidFill>
                <a:latin typeface="Segoe UI"/>
              </a:rPr>
              <a:t>Going back means running the whole pipeline again for an older commit, and hoping it builds.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03   The idea</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GitOps reverses who does the deploying</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03 / 12</a:t>
            </a:r>
          </a:p>
        </p:txBody>
      </p:sp>
      <p:sp>
        <p:nvSpPr>
          <p:cNvPr id="7" name="TextBox 6"/>
          <p:cNvSpPr txBox="1"/>
          <p:nvPr/>
        </p:nvSpPr>
        <p:spPr>
          <a:xfrm>
            <a:off x="640080" y="1874519"/>
            <a:ext cx="3108960" cy="274320"/>
          </a:xfrm>
          <a:prstGeom prst="rect">
            <a:avLst/>
          </a:prstGeom>
          <a:noFill/>
        </p:spPr>
        <p:txBody>
          <a:bodyPr wrap="square" lIns="0" tIns="0" rIns="0" bIns="0" anchor="t">
            <a:spAutoFit/>
          </a:bodyPr>
          <a:lstStyle/>
          <a:p>
            <a:pPr algn="l"/>
            <a:r>
              <a:rPr sz="1000" b="0" i="0">
                <a:solidFill>
                  <a:srgbClr val="6B6760"/>
                </a:solidFill>
                <a:latin typeface="Consolas"/>
              </a:rPr>
              <a:t>OPENGITOPS PRINCIPLES</a:t>
            </a:r>
          </a:p>
        </p:txBody>
      </p:sp>
      <p:sp>
        <p:nvSpPr>
          <p:cNvPr id="8" name="TextBox 7"/>
          <p:cNvSpPr txBox="1"/>
          <p:nvPr/>
        </p:nvSpPr>
        <p:spPr>
          <a:xfrm>
            <a:off x="640080" y="2240280"/>
            <a:ext cx="3108960" cy="365760"/>
          </a:xfrm>
          <a:prstGeom prst="rect">
            <a:avLst/>
          </a:prstGeom>
          <a:noFill/>
        </p:spPr>
        <p:txBody>
          <a:bodyPr wrap="square" lIns="0" tIns="0" rIns="0" bIns="0" anchor="t">
            <a:spAutoFit/>
          </a:bodyPr>
          <a:lstStyle/>
          <a:p>
            <a:pPr algn="l"/>
            <a:r>
              <a:rPr sz="1800" b="0" i="0">
                <a:solidFill>
                  <a:srgbClr val="171717"/>
                </a:solidFill>
                <a:latin typeface="Georgia"/>
              </a:rPr>
              <a:t>Declarative</a:t>
            </a:r>
          </a:p>
        </p:txBody>
      </p:sp>
      <p:sp>
        <p:nvSpPr>
          <p:cNvPr id="9" name="TextBox 8"/>
          <p:cNvSpPr txBox="1"/>
          <p:nvPr/>
        </p:nvSpPr>
        <p:spPr>
          <a:xfrm>
            <a:off x="640080" y="2606040"/>
            <a:ext cx="3108960" cy="457200"/>
          </a:xfrm>
          <a:prstGeom prst="rect">
            <a:avLst/>
          </a:prstGeom>
          <a:noFill/>
        </p:spPr>
        <p:txBody>
          <a:bodyPr wrap="square" lIns="0" tIns="0" rIns="0" bIns="0" anchor="t">
            <a:spAutoFit/>
          </a:bodyPr>
          <a:lstStyle/>
          <a:p>
            <a:pPr algn="l"/>
            <a:r>
              <a:rPr sz="1300" b="0" i="0">
                <a:solidFill>
                  <a:srgbClr val="6B6760"/>
                </a:solidFill>
                <a:latin typeface="Segoe UI"/>
              </a:rPr>
              <a:t>The desired state is written in YAML.</a:t>
            </a:r>
          </a:p>
        </p:txBody>
      </p:sp>
      <p:sp>
        <p:nvSpPr>
          <p:cNvPr id="10" name="TextBox 9"/>
          <p:cNvSpPr txBox="1"/>
          <p:nvPr/>
        </p:nvSpPr>
        <p:spPr>
          <a:xfrm>
            <a:off x="640080" y="3227832"/>
            <a:ext cx="3108960" cy="365760"/>
          </a:xfrm>
          <a:prstGeom prst="rect">
            <a:avLst/>
          </a:prstGeom>
          <a:noFill/>
        </p:spPr>
        <p:txBody>
          <a:bodyPr wrap="square" lIns="0" tIns="0" rIns="0" bIns="0" anchor="t">
            <a:spAutoFit/>
          </a:bodyPr>
          <a:lstStyle/>
          <a:p>
            <a:pPr algn="l"/>
            <a:r>
              <a:rPr sz="1800" b="0" i="0">
                <a:solidFill>
                  <a:srgbClr val="171717"/>
                </a:solidFill>
                <a:latin typeface="Georgia"/>
              </a:rPr>
              <a:t>Versioned</a:t>
            </a:r>
          </a:p>
        </p:txBody>
      </p:sp>
      <p:sp>
        <p:nvSpPr>
          <p:cNvPr id="11" name="TextBox 10"/>
          <p:cNvSpPr txBox="1"/>
          <p:nvPr/>
        </p:nvSpPr>
        <p:spPr>
          <a:xfrm>
            <a:off x="640080" y="3593592"/>
            <a:ext cx="3108960" cy="457200"/>
          </a:xfrm>
          <a:prstGeom prst="rect">
            <a:avLst/>
          </a:prstGeom>
          <a:noFill/>
        </p:spPr>
        <p:txBody>
          <a:bodyPr wrap="square" lIns="0" tIns="0" rIns="0" bIns="0" anchor="t">
            <a:spAutoFit/>
          </a:bodyPr>
          <a:lstStyle/>
          <a:p>
            <a:pPr algn="l"/>
            <a:r>
              <a:rPr sz="1300" b="0" i="0">
                <a:solidFill>
                  <a:srgbClr val="6B6760"/>
                </a:solidFill>
                <a:latin typeface="Segoe UI"/>
              </a:rPr>
              <a:t>Every change to that state is a commit.</a:t>
            </a:r>
          </a:p>
        </p:txBody>
      </p:sp>
      <p:sp>
        <p:nvSpPr>
          <p:cNvPr id="12" name="TextBox 11"/>
          <p:cNvSpPr txBox="1"/>
          <p:nvPr/>
        </p:nvSpPr>
        <p:spPr>
          <a:xfrm>
            <a:off x="640080" y="4215384"/>
            <a:ext cx="3108960" cy="365760"/>
          </a:xfrm>
          <a:prstGeom prst="rect">
            <a:avLst/>
          </a:prstGeom>
          <a:noFill/>
        </p:spPr>
        <p:txBody>
          <a:bodyPr wrap="square" lIns="0" tIns="0" rIns="0" bIns="0" anchor="t">
            <a:spAutoFit/>
          </a:bodyPr>
          <a:lstStyle/>
          <a:p>
            <a:pPr algn="l"/>
            <a:r>
              <a:rPr sz="1800" b="0" i="0">
                <a:solidFill>
                  <a:srgbClr val="171717"/>
                </a:solidFill>
                <a:latin typeface="Georgia"/>
              </a:rPr>
              <a:t>Pulled</a:t>
            </a:r>
          </a:p>
        </p:txBody>
      </p:sp>
      <p:sp>
        <p:nvSpPr>
          <p:cNvPr id="13" name="TextBox 12"/>
          <p:cNvSpPr txBox="1"/>
          <p:nvPr/>
        </p:nvSpPr>
        <p:spPr>
          <a:xfrm>
            <a:off x="640080" y="4581144"/>
            <a:ext cx="3108960" cy="457200"/>
          </a:xfrm>
          <a:prstGeom prst="rect">
            <a:avLst/>
          </a:prstGeom>
          <a:noFill/>
        </p:spPr>
        <p:txBody>
          <a:bodyPr wrap="square" lIns="0" tIns="0" rIns="0" bIns="0" anchor="t">
            <a:spAutoFit/>
          </a:bodyPr>
          <a:lstStyle/>
          <a:p>
            <a:pPr algn="l"/>
            <a:r>
              <a:rPr sz="1300" b="0" i="0">
                <a:solidFill>
                  <a:srgbClr val="6B6760"/>
                </a:solidFill>
                <a:latin typeface="Segoe UI"/>
              </a:rPr>
              <a:t>An agent in the cluster fetches changes.</a:t>
            </a:r>
          </a:p>
        </p:txBody>
      </p:sp>
      <p:sp>
        <p:nvSpPr>
          <p:cNvPr id="14" name="TextBox 13"/>
          <p:cNvSpPr txBox="1"/>
          <p:nvPr/>
        </p:nvSpPr>
        <p:spPr>
          <a:xfrm>
            <a:off x="640080" y="5202936"/>
            <a:ext cx="3108960" cy="365760"/>
          </a:xfrm>
          <a:prstGeom prst="rect">
            <a:avLst/>
          </a:prstGeom>
          <a:noFill/>
        </p:spPr>
        <p:txBody>
          <a:bodyPr wrap="square" lIns="0" tIns="0" rIns="0" bIns="0" anchor="t">
            <a:spAutoFit/>
          </a:bodyPr>
          <a:lstStyle/>
          <a:p>
            <a:pPr algn="l"/>
            <a:r>
              <a:rPr sz="1800" b="0" i="0">
                <a:solidFill>
                  <a:srgbClr val="171717"/>
                </a:solidFill>
                <a:latin typeface="Georgia"/>
              </a:rPr>
              <a:t>Reconciled</a:t>
            </a:r>
          </a:p>
        </p:txBody>
      </p:sp>
      <p:sp>
        <p:nvSpPr>
          <p:cNvPr id="15" name="TextBox 14"/>
          <p:cNvSpPr txBox="1"/>
          <p:nvPr/>
        </p:nvSpPr>
        <p:spPr>
          <a:xfrm>
            <a:off x="640080" y="5568696"/>
            <a:ext cx="3108960" cy="457200"/>
          </a:xfrm>
          <a:prstGeom prst="rect">
            <a:avLst/>
          </a:prstGeom>
          <a:noFill/>
        </p:spPr>
        <p:txBody>
          <a:bodyPr wrap="square" lIns="0" tIns="0" rIns="0" bIns="0" anchor="t">
            <a:spAutoFit/>
          </a:bodyPr>
          <a:lstStyle/>
          <a:p>
            <a:pPr algn="l"/>
            <a:r>
              <a:rPr sz="1300" b="0" i="0">
                <a:solidFill>
                  <a:srgbClr val="6B6760"/>
                </a:solidFill>
                <a:latin typeface="Segoe UI"/>
              </a:rPr>
              <a:t>Differences from Git get reverted.</a:t>
            </a:r>
          </a:p>
        </p:txBody>
      </p:sp>
      <p:sp>
        <p:nvSpPr>
          <p:cNvPr id="16" name="Rectangle 15"/>
          <p:cNvSpPr/>
          <p:nvPr/>
        </p:nvSpPr>
        <p:spPr>
          <a:xfrm>
            <a:off x="8778240" y="1828800"/>
            <a:ext cx="2770632" cy="3950208"/>
          </a:xfrm>
          <a:prstGeom prst="rect">
            <a:avLst/>
          </a:prstGeom>
          <a:solidFill>
            <a:srgbClr val="EBE3D3"/>
          </a:solidFill>
          <a:ln>
            <a:noFill/>
          </a:ln>
          <a:effectLst/>
        </p:spPr>
        <p:txBody>
          <a:bodyPr rtlCol="0" anchor="ctr"/>
          <a:lstStyle/>
          <a:p>
            <a:pPr algn="ctr"/>
            <a:endParaRPr/>
          </a:p>
        </p:txBody>
      </p:sp>
      <p:sp>
        <p:nvSpPr>
          <p:cNvPr id="17" name="TextBox 16"/>
          <p:cNvSpPr txBox="1"/>
          <p:nvPr/>
        </p:nvSpPr>
        <p:spPr>
          <a:xfrm>
            <a:off x="4480560" y="1828800"/>
            <a:ext cx="1783080" cy="658368"/>
          </a:xfrm>
          <a:prstGeom prst="rect">
            <a:avLst/>
          </a:prstGeom>
          <a:noFill/>
        </p:spPr>
        <p:txBody>
          <a:bodyPr wrap="square" lIns="0" tIns="0" rIns="0" bIns="0" anchor="ctr">
            <a:spAutoFit/>
          </a:bodyPr>
          <a:lstStyle/>
          <a:p>
            <a:pPr algn="l"/>
            <a:endParaRPr/>
          </a:p>
        </p:txBody>
      </p:sp>
      <p:sp>
        <p:nvSpPr>
          <p:cNvPr id="18" name="TextBox 17"/>
          <p:cNvSpPr txBox="1"/>
          <p:nvPr/>
        </p:nvSpPr>
        <p:spPr>
          <a:xfrm>
            <a:off x="6492240" y="1828800"/>
            <a:ext cx="2194560" cy="658368"/>
          </a:xfrm>
          <a:prstGeom prst="rect">
            <a:avLst/>
          </a:prstGeom>
          <a:noFill/>
        </p:spPr>
        <p:txBody>
          <a:bodyPr wrap="square" lIns="0" tIns="0" rIns="0" bIns="0" anchor="ctr">
            <a:spAutoFit/>
          </a:bodyPr>
          <a:lstStyle/>
          <a:p>
            <a:pPr algn="l"/>
            <a:r>
              <a:rPr sz="1100" b="0" i="0">
                <a:solidFill>
                  <a:srgbClr val="6B6760"/>
                </a:solidFill>
                <a:latin typeface="Consolas"/>
              </a:rPr>
              <a:t>Push model</a:t>
            </a:r>
          </a:p>
        </p:txBody>
      </p:sp>
      <p:sp>
        <p:nvSpPr>
          <p:cNvPr id="19" name="TextBox 18"/>
          <p:cNvSpPr txBox="1"/>
          <p:nvPr/>
        </p:nvSpPr>
        <p:spPr>
          <a:xfrm>
            <a:off x="8915400" y="1828800"/>
            <a:ext cx="2542032" cy="658368"/>
          </a:xfrm>
          <a:prstGeom prst="rect">
            <a:avLst/>
          </a:prstGeom>
          <a:noFill/>
        </p:spPr>
        <p:txBody>
          <a:bodyPr wrap="square" lIns="0" tIns="0" rIns="0" bIns="0" anchor="ctr">
            <a:spAutoFit/>
          </a:bodyPr>
          <a:lstStyle/>
          <a:p>
            <a:pPr algn="l"/>
            <a:r>
              <a:rPr sz="1100" b="0" i="0">
                <a:solidFill>
                  <a:srgbClr val="D24E25"/>
                </a:solidFill>
                <a:latin typeface="Consolas"/>
              </a:rPr>
              <a:t>Pull model (GitOps)</a:t>
            </a:r>
          </a:p>
        </p:txBody>
      </p:sp>
      <p:cxnSp>
        <p:nvCxnSpPr>
          <p:cNvPr id="20" name="Connector 19"/>
          <p:cNvCxnSpPr/>
          <p:nvPr/>
        </p:nvCxnSpPr>
        <p:spPr>
          <a:xfrm>
            <a:off x="4343400" y="2487168"/>
            <a:ext cx="7205472" cy="0"/>
          </a:xfrm>
          <a:prstGeom prst="line">
            <a:avLst/>
          </a:prstGeom>
          <a:ln w="9525">
            <a:solidFill>
              <a:srgbClr val="CFC9BC"/>
            </a:solidFill>
          </a:ln>
        </p:spPr>
      </p:cxnSp>
      <p:sp>
        <p:nvSpPr>
          <p:cNvPr id="21" name="TextBox 20"/>
          <p:cNvSpPr txBox="1"/>
          <p:nvPr/>
        </p:nvSpPr>
        <p:spPr>
          <a:xfrm>
            <a:off x="4480560" y="2487168"/>
            <a:ext cx="1783080" cy="658368"/>
          </a:xfrm>
          <a:prstGeom prst="rect">
            <a:avLst/>
          </a:prstGeom>
          <a:noFill/>
        </p:spPr>
        <p:txBody>
          <a:bodyPr wrap="square" lIns="0" tIns="0" rIns="0" bIns="0" anchor="ctr">
            <a:spAutoFit/>
          </a:bodyPr>
          <a:lstStyle/>
          <a:p>
            <a:pPr algn="l"/>
            <a:r>
              <a:rPr sz="1300" b="0" i="0">
                <a:solidFill>
                  <a:srgbClr val="6B6760"/>
                </a:solidFill>
                <a:latin typeface="Segoe UI"/>
              </a:rPr>
              <a:t>Who deploys</a:t>
            </a:r>
          </a:p>
        </p:txBody>
      </p:sp>
      <p:sp>
        <p:nvSpPr>
          <p:cNvPr id="22" name="TextBox 21"/>
          <p:cNvSpPr txBox="1"/>
          <p:nvPr/>
        </p:nvSpPr>
        <p:spPr>
          <a:xfrm>
            <a:off x="6492240" y="2487168"/>
            <a:ext cx="2194560" cy="658368"/>
          </a:xfrm>
          <a:prstGeom prst="rect">
            <a:avLst/>
          </a:prstGeom>
          <a:noFill/>
        </p:spPr>
        <p:txBody>
          <a:bodyPr wrap="square" lIns="0" tIns="0" rIns="0" bIns="0" anchor="ctr">
            <a:spAutoFit/>
          </a:bodyPr>
          <a:lstStyle/>
          <a:p>
            <a:pPr algn="l"/>
            <a:r>
              <a:rPr sz="1500" b="0" i="0">
                <a:solidFill>
                  <a:srgbClr val="6B6760"/>
                </a:solidFill>
                <a:latin typeface="Segoe UI"/>
              </a:rPr>
              <a:t>External CI server</a:t>
            </a:r>
          </a:p>
        </p:txBody>
      </p:sp>
      <p:sp>
        <p:nvSpPr>
          <p:cNvPr id="23" name="TextBox 22"/>
          <p:cNvSpPr txBox="1"/>
          <p:nvPr/>
        </p:nvSpPr>
        <p:spPr>
          <a:xfrm>
            <a:off x="8915400" y="2487168"/>
            <a:ext cx="2542032" cy="658368"/>
          </a:xfrm>
          <a:prstGeom prst="rect">
            <a:avLst/>
          </a:prstGeom>
          <a:noFill/>
        </p:spPr>
        <p:txBody>
          <a:bodyPr wrap="square" lIns="0" tIns="0" rIns="0" bIns="0" anchor="ctr">
            <a:spAutoFit/>
          </a:bodyPr>
          <a:lstStyle/>
          <a:p>
            <a:pPr algn="l"/>
            <a:r>
              <a:rPr sz="1500" b="1" i="0">
                <a:solidFill>
                  <a:srgbClr val="171717"/>
                </a:solidFill>
                <a:latin typeface="Segoe UI"/>
              </a:rPr>
              <a:t>ArgoCD, inside the cluster</a:t>
            </a:r>
          </a:p>
        </p:txBody>
      </p:sp>
      <p:cxnSp>
        <p:nvCxnSpPr>
          <p:cNvPr id="24" name="Connector 23"/>
          <p:cNvCxnSpPr/>
          <p:nvPr/>
        </p:nvCxnSpPr>
        <p:spPr>
          <a:xfrm>
            <a:off x="4343400" y="3145536"/>
            <a:ext cx="7205472" cy="0"/>
          </a:xfrm>
          <a:prstGeom prst="line">
            <a:avLst/>
          </a:prstGeom>
          <a:ln w="9525">
            <a:solidFill>
              <a:srgbClr val="CFC9BC"/>
            </a:solidFill>
          </a:ln>
        </p:spPr>
      </p:cxnSp>
      <p:sp>
        <p:nvSpPr>
          <p:cNvPr id="25" name="TextBox 24"/>
          <p:cNvSpPr txBox="1"/>
          <p:nvPr/>
        </p:nvSpPr>
        <p:spPr>
          <a:xfrm>
            <a:off x="4480560" y="3145536"/>
            <a:ext cx="1783080" cy="658368"/>
          </a:xfrm>
          <a:prstGeom prst="rect">
            <a:avLst/>
          </a:prstGeom>
          <a:noFill/>
        </p:spPr>
        <p:txBody>
          <a:bodyPr wrap="square" lIns="0" tIns="0" rIns="0" bIns="0" anchor="ctr">
            <a:spAutoFit/>
          </a:bodyPr>
          <a:lstStyle/>
          <a:p>
            <a:pPr algn="l"/>
            <a:r>
              <a:rPr sz="1300" b="0" i="0">
                <a:solidFill>
                  <a:srgbClr val="6B6760"/>
                </a:solidFill>
                <a:latin typeface="Segoe UI"/>
              </a:rPr>
              <a:t>Cluster credentials</a:t>
            </a:r>
          </a:p>
        </p:txBody>
      </p:sp>
      <p:sp>
        <p:nvSpPr>
          <p:cNvPr id="26" name="TextBox 25"/>
          <p:cNvSpPr txBox="1"/>
          <p:nvPr/>
        </p:nvSpPr>
        <p:spPr>
          <a:xfrm>
            <a:off x="6492240" y="3145536"/>
            <a:ext cx="2194560" cy="658368"/>
          </a:xfrm>
          <a:prstGeom prst="rect">
            <a:avLst/>
          </a:prstGeom>
          <a:noFill/>
        </p:spPr>
        <p:txBody>
          <a:bodyPr wrap="square" lIns="0" tIns="0" rIns="0" bIns="0" anchor="ctr">
            <a:spAutoFit/>
          </a:bodyPr>
          <a:lstStyle/>
          <a:p>
            <a:pPr algn="l"/>
            <a:r>
              <a:rPr sz="1500" b="0" i="0">
                <a:solidFill>
                  <a:srgbClr val="6B6760"/>
                </a:solidFill>
                <a:latin typeface="Segoe UI"/>
              </a:rPr>
              <a:t>Stored in CI</a:t>
            </a:r>
          </a:p>
        </p:txBody>
      </p:sp>
      <p:sp>
        <p:nvSpPr>
          <p:cNvPr id="27" name="TextBox 26"/>
          <p:cNvSpPr txBox="1"/>
          <p:nvPr/>
        </p:nvSpPr>
        <p:spPr>
          <a:xfrm>
            <a:off x="8915400" y="3145536"/>
            <a:ext cx="2542032" cy="658368"/>
          </a:xfrm>
          <a:prstGeom prst="rect">
            <a:avLst/>
          </a:prstGeom>
          <a:noFill/>
        </p:spPr>
        <p:txBody>
          <a:bodyPr wrap="square" lIns="0" tIns="0" rIns="0" bIns="0" anchor="ctr">
            <a:spAutoFit/>
          </a:bodyPr>
          <a:lstStyle/>
          <a:p>
            <a:pPr algn="l"/>
            <a:r>
              <a:rPr sz="1500" b="1" i="0">
                <a:solidFill>
                  <a:srgbClr val="171717"/>
                </a:solidFill>
                <a:latin typeface="Segoe UI"/>
              </a:rPr>
              <a:t>Never leave the cluster</a:t>
            </a:r>
          </a:p>
        </p:txBody>
      </p:sp>
      <p:cxnSp>
        <p:nvCxnSpPr>
          <p:cNvPr id="28" name="Connector 27"/>
          <p:cNvCxnSpPr/>
          <p:nvPr/>
        </p:nvCxnSpPr>
        <p:spPr>
          <a:xfrm>
            <a:off x="4343400" y="3803904"/>
            <a:ext cx="7205472" cy="0"/>
          </a:xfrm>
          <a:prstGeom prst="line">
            <a:avLst/>
          </a:prstGeom>
          <a:ln w="9525">
            <a:solidFill>
              <a:srgbClr val="CFC9BC"/>
            </a:solidFill>
          </a:ln>
        </p:spPr>
      </p:cxnSp>
      <p:sp>
        <p:nvSpPr>
          <p:cNvPr id="29" name="TextBox 28"/>
          <p:cNvSpPr txBox="1"/>
          <p:nvPr/>
        </p:nvSpPr>
        <p:spPr>
          <a:xfrm>
            <a:off x="4480560" y="3803904"/>
            <a:ext cx="1783080" cy="658368"/>
          </a:xfrm>
          <a:prstGeom prst="rect">
            <a:avLst/>
          </a:prstGeom>
          <a:noFill/>
        </p:spPr>
        <p:txBody>
          <a:bodyPr wrap="square" lIns="0" tIns="0" rIns="0" bIns="0" anchor="ctr">
            <a:spAutoFit/>
          </a:bodyPr>
          <a:lstStyle/>
          <a:p>
            <a:pPr algn="l"/>
            <a:r>
              <a:rPr sz="1300" b="0" i="0">
                <a:solidFill>
                  <a:srgbClr val="6B6760"/>
                </a:solidFill>
                <a:latin typeface="Segoe UI"/>
              </a:rPr>
              <a:t>Manual changes</a:t>
            </a:r>
          </a:p>
        </p:txBody>
      </p:sp>
      <p:sp>
        <p:nvSpPr>
          <p:cNvPr id="30" name="TextBox 29"/>
          <p:cNvSpPr txBox="1"/>
          <p:nvPr/>
        </p:nvSpPr>
        <p:spPr>
          <a:xfrm>
            <a:off x="6492240" y="3803904"/>
            <a:ext cx="2194560" cy="658368"/>
          </a:xfrm>
          <a:prstGeom prst="rect">
            <a:avLst/>
          </a:prstGeom>
          <a:noFill/>
        </p:spPr>
        <p:txBody>
          <a:bodyPr wrap="square" lIns="0" tIns="0" rIns="0" bIns="0" anchor="ctr">
            <a:spAutoFit/>
          </a:bodyPr>
          <a:lstStyle/>
          <a:p>
            <a:pPr algn="l"/>
            <a:r>
              <a:rPr sz="1500" b="0" i="0">
                <a:solidFill>
                  <a:srgbClr val="6B6760"/>
                </a:solidFill>
                <a:latin typeface="Segoe UI"/>
              </a:rPr>
              <a:t>Go unnoticed</a:t>
            </a:r>
          </a:p>
        </p:txBody>
      </p:sp>
      <p:sp>
        <p:nvSpPr>
          <p:cNvPr id="31" name="TextBox 30"/>
          <p:cNvSpPr txBox="1"/>
          <p:nvPr/>
        </p:nvSpPr>
        <p:spPr>
          <a:xfrm>
            <a:off x="8915400" y="3803904"/>
            <a:ext cx="2542032" cy="658368"/>
          </a:xfrm>
          <a:prstGeom prst="rect">
            <a:avLst/>
          </a:prstGeom>
          <a:noFill/>
        </p:spPr>
        <p:txBody>
          <a:bodyPr wrap="square" lIns="0" tIns="0" rIns="0" bIns="0" anchor="ctr">
            <a:spAutoFit/>
          </a:bodyPr>
          <a:lstStyle/>
          <a:p>
            <a:pPr algn="l"/>
            <a:r>
              <a:rPr sz="1500" b="1" i="0">
                <a:solidFill>
                  <a:srgbClr val="171717"/>
                </a:solidFill>
                <a:latin typeface="Segoe UI"/>
              </a:rPr>
              <a:t>Reverted within seconds</a:t>
            </a:r>
          </a:p>
        </p:txBody>
      </p:sp>
      <p:cxnSp>
        <p:nvCxnSpPr>
          <p:cNvPr id="32" name="Connector 31"/>
          <p:cNvCxnSpPr/>
          <p:nvPr/>
        </p:nvCxnSpPr>
        <p:spPr>
          <a:xfrm>
            <a:off x="4343400" y="4462272"/>
            <a:ext cx="7205472" cy="0"/>
          </a:xfrm>
          <a:prstGeom prst="line">
            <a:avLst/>
          </a:prstGeom>
          <a:ln w="9525">
            <a:solidFill>
              <a:srgbClr val="CFC9BC"/>
            </a:solidFill>
          </a:ln>
        </p:spPr>
      </p:cxnSp>
      <p:sp>
        <p:nvSpPr>
          <p:cNvPr id="33" name="TextBox 32"/>
          <p:cNvSpPr txBox="1"/>
          <p:nvPr/>
        </p:nvSpPr>
        <p:spPr>
          <a:xfrm>
            <a:off x="4480560" y="4462272"/>
            <a:ext cx="1783080" cy="658368"/>
          </a:xfrm>
          <a:prstGeom prst="rect">
            <a:avLst/>
          </a:prstGeom>
          <a:noFill/>
        </p:spPr>
        <p:txBody>
          <a:bodyPr wrap="square" lIns="0" tIns="0" rIns="0" bIns="0" anchor="ctr">
            <a:spAutoFit/>
          </a:bodyPr>
          <a:lstStyle/>
          <a:p>
            <a:pPr algn="l"/>
            <a:r>
              <a:rPr sz="1300" b="0" i="0">
                <a:solidFill>
                  <a:srgbClr val="6B6760"/>
                </a:solidFill>
                <a:latin typeface="Segoe UI"/>
              </a:rPr>
              <a:t>Rollback</a:t>
            </a:r>
          </a:p>
        </p:txBody>
      </p:sp>
      <p:sp>
        <p:nvSpPr>
          <p:cNvPr id="34" name="TextBox 33"/>
          <p:cNvSpPr txBox="1"/>
          <p:nvPr/>
        </p:nvSpPr>
        <p:spPr>
          <a:xfrm>
            <a:off x="6492240" y="4462272"/>
            <a:ext cx="2194560" cy="658368"/>
          </a:xfrm>
          <a:prstGeom prst="rect">
            <a:avLst/>
          </a:prstGeom>
          <a:noFill/>
        </p:spPr>
        <p:txBody>
          <a:bodyPr wrap="square" lIns="0" tIns="0" rIns="0" bIns="0" anchor="ctr">
            <a:spAutoFit/>
          </a:bodyPr>
          <a:lstStyle/>
          <a:p>
            <a:pPr algn="l"/>
            <a:r>
              <a:rPr sz="1500" b="0" i="0">
                <a:solidFill>
                  <a:srgbClr val="6B6760"/>
                </a:solidFill>
                <a:latin typeface="Segoe UI"/>
              </a:rPr>
              <a:t>Re-run the pipeline</a:t>
            </a:r>
          </a:p>
        </p:txBody>
      </p:sp>
      <p:sp>
        <p:nvSpPr>
          <p:cNvPr id="35" name="TextBox 34"/>
          <p:cNvSpPr txBox="1"/>
          <p:nvPr/>
        </p:nvSpPr>
        <p:spPr>
          <a:xfrm>
            <a:off x="8915400" y="4462272"/>
            <a:ext cx="2542032" cy="658368"/>
          </a:xfrm>
          <a:prstGeom prst="rect">
            <a:avLst/>
          </a:prstGeom>
          <a:noFill/>
        </p:spPr>
        <p:txBody>
          <a:bodyPr wrap="square" lIns="0" tIns="0" rIns="0" bIns="0" anchor="ctr">
            <a:spAutoFit/>
          </a:bodyPr>
          <a:lstStyle/>
          <a:p>
            <a:pPr algn="l"/>
            <a:r>
              <a:rPr sz="1500" b="1" i="0">
                <a:solidFill>
                  <a:srgbClr val="171717"/>
                </a:solidFill>
                <a:latin typeface="Consolas"/>
              </a:rPr>
              <a:t>git revert</a:t>
            </a:r>
          </a:p>
        </p:txBody>
      </p:sp>
      <p:cxnSp>
        <p:nvCxnSpPr>
          <p:cNvPr id="36" name="Connector 35"/>
          <p:cNvCxnSpPr/>
          <p:nvPr/>
        </p:nvCxnSpPr>
        <p:spPr>
          <a:xfrm>
            <a:off x="4343400" y="5120640"/>
            <a:ext cx="7205472" cy="0"/>
          </a:xfrm>
          <a:prstGeom prst="line">
            <a:avLst/>
          </a:prstGeom>
          <a:ln w="9525">
            <a:solidFill>
              <a:srgbClr val="CFC9BC"/>
            </a:solidFill>
          </a:ln>
        </p:spPr>
      </p:cxnSp>
      <p:sp>
        <p:nvSpPr>
          <p:cNvPr id="37" name="TextBox 36"/>
          <p:cNvSpPr txBox="1"/>
          <p:nvPr/>
        </p:nvSpPr>
        <p:spPr>
          <a:xfrm>
            <a:off x="4480560" y="5120640"/>
            <a:ext cx="1783080" cy="658368"/>
          </a:xfrm>
          <a:prstGeom prst="rect">
            <a:avLst/>
          </a:prstGeom>
          <a:noFill/>
        </p:spPr>
        <p:txBody>
          <a:bodyPr wrap="square" lIns="0" tIns="0" rIns="0" bIns="0" anchor="ctr">
            <a:spAutoFit/>
          </a:bodyPr>
          <a:lstStyle/>
          <a:p>
            <a:pPr algn="l"/>
            <a:r>
              <a:rPr sz="1300" b="0" i="0">
                <a:solidFill>
                  <a:srgbClr val="6B6760"/>
                </a:solidFill>
                <a:latin typeface="Segoe UI"/>
              </a:rPr>
              <a:t>Audit trail</a:t>
            </a:r>
          </a:p>
        </p:txBody>
      </p:sp>
      <p:sp>
        <p:nvSpPr>
          <p:cNvPr id="38" name="TextBox 37"/>
          <p:cNvSpPr txBox="1"/>
          <p:nvPr/>
        </p:nvSpPr>
        <p:spPr>
          <a:xfrm>
            <a:off x="6492240" y="5120640"/>
            <a:ext cx="2194560" cy="658368"/>
          </a:xfrm>
          <a:prstGeom prst="rect">
            <a:avLst/>
          </a:prstGeom>
          <a:noFill/>
        </p:spPr>
        <p:txBody>
          <a:bodyPr wrap="square" lIns="0" tIns="0" rIns="0" bIns="0" anchor="ctr">
            <a:spAutoFit/>
          </a:bodyPr>
          <a:lstStyle/>
          <a:p>
            <a:pPr algn="l"/>
            <a:r>
              <a:rPr sz="1500" b="0" i="0">
                <a:solidFill>
                  <a:srgbClr val="6B6760"/>
                </a:solidFill>
                <a:latin typeface="Segoe UI"/>
              </a:rPr>
              <a:t>CI job logs</a:t>
            </a:r>
          </a:p>
        </p:txBody>
      </p:sp>
      <p:sp>
        <p:nvSpPr>
          <p:cNvPr id="39" name="TextBox 38"/>
          <p:cNvSpPr txBox="1"/>
          <p:nvPr/>
        </p:nvSpPr>
        <p:spPr>
          <a:xfrm>
            <a:off x="8915400" y="5120640"/>
            <a:ext cx="2542032" cy="658368"/>
          </a:xfrm>
          <a:prstGeom prst="rect">
            <a:avLst/>
          </a:prstGeom>
          <a:noFill/>
        </p:spPr>
        <p:txBody>
          <a:bodyPr wrap="square" lIns="0" tIns="0" rIns="0" bIns="0" anchor="ctr">
            <a:spAutoFit/>
          </a:bodyPr>
          <a:lstStyle/>
          <a:p>
            <a:pPr algn="l"/>
            <a:r>
              <a:rPr sz="1500" b="1" i="0">
                <a:solidFill>
                  <a:srgbClr val="171717"/>
                </a:solidFill>
                <a:latin typeface="Segoe UI"/>
              </a:rPr>
              <a:t>Git history</a:t>
            </a:r>
          </a:p>
        </p:txBody>
      </p:sp>
      <p:cxnSp>
        <p:nvCxnSpPr>
          <p:cNvPr id="40" name="Connector 39"/>
          <p:cNvCxnSpPr/>
          <p:nvPr/>
        </p:nvCxnSpPr>
        <p:spPr>
          <a:xfrm>
            <a:off x="4343400" y="5779008"/>
            <a:ext cx="7205472" cy="0"/>
          </a:xfrm>
          <a:prstGeom prst="line">
            <a:avLst/>
          </a:prstGeom>
          <a:ln w="12700">
            <a:solidFill>
              <a:srgbClr val="171717"/>
            </a:solidFill>
          </a:ln>
        </p:spPr>
      </p:cxnSp>
      <p:cxnSp>
        <p:nvCxnSpPr>
          <p:cNvPr id="41" name="Connector 40"/>
          <p:cNvCxnSpPr/>
          <p:nvPr/>
        </p:nvCxnSpPr>
        <p:spPr>
          <a:xfrm>
            <a:off x="4343400" y="1828800"/>
            <a:ext cx="7205472" cy="0"/>
          </a:xfrm>
          <a:prstGeom prst="line">
            <a:avLst/>
          </a:prstGeom>
          <a:ln w="12700">
            <a:solidFill>
              <a:srgbClr val="171717"/>
            </a:solidFill>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04   Objectives</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What the project had to prove</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04 / 12</a:t>
            </a:r>
          </a:p>
        </p:txBody>
      </p:sp>
      <p:sp>
        <p:nvSpPr>
          <p:cNvPr id="7" name="TextBox 6"/>
          <p:cNvSpPr txBox="1"/>
          <p:nvPr/>
        </p:nvSpPr>
        <p:spPr>
          <a:xfrm>
            <a:off x="640080" y="1874519"/>
            <a:ext cx="914400" cy="822960"/>
          </a:xfrm>
          <a:prstGeom prst="rect">
            <a:avLst/>
          </a:prstGeom>
          <a:noFill/>
        </p:spPr>
        <p:txBody>
          <a:bodyPr wrap="square" lIns="0" tIns="0" rIns="0" bIns="0" anchor="ctr">
            <a:spAutoFit/>
          </a:bodyPr>
          <a:lstStyle/>
          <a:p>
            <a:pPr algn="l"/>
            <a:r>
              <a:rPr sz="4400" b="0" i="0">
                <a:solidFill>
                  <a:srgbClr val="D24E25"/>
                </a:solidFill>
                <a:latin typeface="Georgia"/>
              </a:rPr>
              <a:t>1</a:t>
            </a:r>
          </a:p>
        </p:txBody>
      </p:sp>
      <p:sp>
        <p:nvSpPr>
          <p:cNvPr id="8" name="TextBox 7"/>
          <p:cNvSpPr txBox="1"/>
          <p:nvPr/>
        </p:nvSpPr>
        <p:spPr>
          <a:xfrm>
            <a:off x="1508760" y="1874519"/>
            <a:ext cx="4023360" cy="822960"/>
          </a:xfrm>
          <a:prstGeom prst="rect">
            <a:avLst/>
          </a:prstGeom>
          <a:noFill/>
        </p:spPr>
        <p:txBody>
          <a:bodyPr wrap="square" lIns="0" tIns="0" rIns="0" bIns="0" anchor="ctr">
            <a:spAutoFit/>
          </a:bodyPr>
          <a:lstStyle/>
          <a:p>
            <a:pPr algn="l"/>
            <a:r>
              <a:rPr sz="2200" b="0" i="0">
                <a:solidFill>
                  <a:srgbClr val="171717"/>
                </a:solidFill>
                <a:latin typeface="Georgia"/>
              </a:rPr>
              <a:t>Single source of truth</a:t>
            </a:r>
          </a:p>
        </p:txBody>
      </p:sp>
      <p:sp>
        <p:nvSpPr>
          <p:cNvPr id="9" name="TextBox 8"/>
          <p:cNvSpPr txBox="1"/>
          <p:nvPr/>
        </p:nvSpPr>
        <p:spPr>
          <a:xfrm>
            <a:off x="5760720" y="1874519"/>
            <a:ext cx="5760720" cy="822960"/>
          </a:xfrm>
          <a:prstGeom prst="rect">
            <a:avLst/>
          </a:prstGeom>
          <a:noFill/>
        </p:spPr>
        <p:txBody>
          <a:bodyPr wrap="square" lIns="0" tIns="0" rIns="0" bIns="0" anchor="ctr">
            <a:spAutoFit/>
          </a:bodyPr>
          <a:lstStyle/>
          <a:p>
            <a:pPr algn="l"/>
            <a:r>
              <a:rPr sz="1500" b="0" i="0">
                <a:solidFill>
                  <a:srgbClr val="6B6760"/>
                </a:solidFill>
                <a:latin typeface="Segoe UI"/>
              </a:rPr>
              <a:t>All app and cluster configuration lives in Git. Nothing is set by hand.</a:t>
            </a:r>
          </a:p>
        </p:txBody>
      </p:sp>
      <p:cxnSp>
        <p:nvCxnSpPr>
          <p:cNvPr id="10" name="Connector 9"/>
          <p:cNvCxnSpPr/>
          <p:nvPr/>
        </p:nvCxnSpPr>
        <p:spPr>
          <a:xfrm>
            <a:off x="640080" y="2843783"/>
            <a:ext cx="10908792" cy="0"/>
          </a:xfrm>
          <a:prstGeom prst="line">
            <a:avLst/>
          </a:prstGeom>
          <a:ln w="9525">
            <a:solidFill>
              <a:srgbClr val="CFC9BC"/>
            </a:solidFill>
          </a:ln>
        </p:spPr>
      </p:cxnSp>
      <p:sp>
        <p:nvSpPr>
          <p:cNvPr id="11" name="TextBox 10"/>
          <p:cNvSpPr txBox="1"/>
          <p:nvPr/>
        </p:nvSpPr>
        <p:spPr>
          <a:xfrm>
            <a:off x="640080" y="2953511"/>
            <a:ext cx="914400" cy="822960"/>
          </a:xfrm>
          <a:prstGeom prst="rect">
            <a:avLst/>
          </a:prstGeom>
          <a:noFill/>
        </p:spPr>
        <p:txBody>
          <a:bodyPr wrap="square" lIns="0" tIns="0" rIns="0" bIns="0" anchor="ctr">
            <a:spAutoFit/>
          </a:bodyPr>
          <a:lstStyle/>
          <a:p>
            <a:pPr algn="l"/>
            <a:r>
              <a:rPr sz="4400" b="0" i="0">
                <a:solidFill>
                  <a:srgbClr val="D24E25"/>
                </a:solidFill>
                <a:latin typeface="Georgia"/>
              </a:rPr>
              <a:t>2</a:t>
            </a:r>
          </a:p>
        </p:txBody>
      </p:sp>
      <p:sp>
        <p:nvSpPr>
          <p:cNvPr id="12" name="TextBox 11"/>
          <p:cNvSpPr txBox="1"/>
          <p:nvPr/>
        </p:nvSpPr>
        <p:spPr>
          <a:xfrm>
            <a:off x="1508760" y="2953511"/>
            <a:ext cx="4023360" cy="822960"/>
          </a:xfrm>
          <a:prstGeom prst="rect">
            <a:avLst/>
          </a:prstGeom>
          <a:noFill/>
        </p:spPr>
        <p:txBody>
          <a:bodyPr wrap="square" lIns="0" tIns="0" rIns="0" bIns="0" anchor="ctr">
            <a:spAutoFit/>
          </a:bodyPr>
          <a:lstStyle/>
          <a:p>
            <a:pPr algn="l"/>
            <a:r>
              <a:rPr sz="2200" b="0" i="0">
                <a:solidFill>
                  <a:srgbClr val="171717"/>
                </a:solidFill>
                <a:latin typeface="Georgia"/>
              </a:rPr>
              <a:t>Automated reconciliation</a:t>
            </a:r>
          </a:p>
        </p:txBody>
      </p:sp>
      <p:sp>
        <p:nvSpPr>
          <p:cNvPr id="13" name="TextBox 12"/>
          <p:cNvSpPr txBox="1"/>
          <p:nvPr/>
        </p:nvSpPr>
        <p:spPr>
          <a:xfrm>
            <a:off x="5760720" y="2953511"/>
            <a:ext cx="5760720" cy="822960"/>
          </a:xfrm>
          <a:prstGeom prst="rect">
            <a:avLst/>
          </a:prstGeom>
          <a:noFill/>
        </p:spPr>
        <p:txBody>
          <a:bodyPr wrap="square" lIns="0" tIns="0" rIns="0" bIns="0" anchor="ctr">
            <a:spAutoFit/>
          </a:bodyPr>
          <a:lstStyle/>
          <a:p>
            <a:pPr algn="l"/>
            <a:r>
              <a:rPr sz="1500" b="0" i="0">
                <a:solidFill>
                  <a:srgbClr val="6B6760"/>
                </a:solidFill>
                <a:latin typeface="Segoe UI"/>
              </a:rPr>
              <a:t>A controller pulls changes into the cluster. No manual deploy step.</a:t>
            </a:r>
          </a:p>
        </p:txBody>
      </p:sp>
      <p:cxnSp>
        <p:nvCxnSpPr>
          <p:cNvPr id="14" name="Connector 13"/>
          <p:cNvCxnSpPr/>
          <p:nvPr/>
        </p:nvCxnSpPr>
        <p:spPr>
          <a:xfrm>
            <a:off x="640080" y="3922776"/>
            <a:ext cx="10908792" cy="0"/>
          </a:xfrm>
          <a:prstGeom prst="line">
            <a:avLst/>
          </a:prstGeom>
          <a:ln w="9525">
            <a:solidFill>
              <a:srgbClr val="CFC9BC"/>
            </a:solidFill>
          </a:ln>
        </p:spPr>
      </p:cxnSp>
      <p:sp>
        <p:nvSpPr>
          <p:cNvPr id="15" name="TextBox 14"/>
          <p:cNvSpPr txBox="1"/>
          <p:nvPr/>
        </p:nvSpPr>
        <p:spPr>
          <a:xfrm>
            <a:off x="640080" y="4032504"/>
            <a:ext cx="914400" cy="822960"/>
          </a:xfrm>
          <a:prstGeom prst="rect">
            <a:avLst/>
          </a:prstGeom>
          <a:noFill/>
        </p:spPr>
        <p:txBody>
          <a:bodyPr wrap="square" lIns="0" tIns="0" rIns="0" bIns="0" anchor="ctr">
            <a:spAutoFit/>
          </a:bodyPr>
          <a:lstStyle/>
          <a:p>
            <a:pPr algn="l"/>
            <a:r>
              <a:rPr sz="4400" b="0" i="0">
                <a:solidFill>
                  <a:srgbClr val="D24E25"/>
                </a:solidFill>
                <a:latin typeface="Georgia"/>
              </a:rPr>
              <a:t>3</a:t>
            </a:r>
          </a:p>
        </p:txBody>
      </p:sp>
      <p:sp>
        <p:nvSpPr>
          <p:cNvPr id="16" name="TextBox 15"/>
          <p:cNvSpPr txBox="1"/>
          <p:nvPr/>
        </p:nvSpPr>
        <p:spPr>
          <a:xfrm>
            <a:off x="1508760" y="4032504"/>
            <a:ext cx="4023360" cy="822960"/>
          </a:xfrm>
          <a:prstGeom prst="rect">
            <a:avLst/>
          </a:prstGeom>
          <a:noFill/>
        </p:spPr>
        <p:txBody>
          <a:bodyPr wrap="square" lIns="0" tIns="0" rIns="0" bIns="0" anchor="ctr">
            <a:spAutoFit/>
          </a:bodyPr>
          <a:lstStyle/>
          <a:p>
            <a:pPr algn="l"/>
            <a:r>
              <a:rPr sz="2200" b="0" i="0">
                <a:solidFill>
                  <a:srgbClr val="171717"/>
                </a:solidFill>
                <a:latin typeface="Georgia"/>
              </a:rPr>
              <a:t>Zero drift</a:t>
            </a:r>
          </a:p>
        </p:txBody>
      </p:sp>
      <p:sp>
        <p:nvSpPr>
          <p:cNvPr id="17" name="TextBox 16"/>
          <p:cNvSpPr txBox="1"/>
          <p:nvPr/>
        </p:nvSpPr>
        <p:spPr>
          <a:xfrm>
            <a:off x="5760720" y="4032504"/>
            <a:ext cx="5760720" cy="822960"/>
          </a:xfrm>
          <a:prstGeom prst="rect">
            <a:avLst/>
          </a:prstGeom>
          <a:noFill/>
        </p:spPr>
        <p:txBody>
          <a:bodyPr wrap="square" lIns="0" tIns="0" rIns="0" bIns="0" anchor="ctr">
            <a:spAutoFit/>
          </a:bodyPr>
          <a:lstStyle/>
          <a:p>
            <a:pPr algn="l"/>
            <a:r>
              <a:rPr sz="1500" b="0" i="0">
                <a:solidFill>
                  <a:srgbClr val="6B6760"/>
                </a:solidFill>
                <a:latin typeface="Segoe UI"/>
              </a:rPr>
              <a:t>Manual changes to the live cluster are detected and overwritten.</a:t>
            </a:r>
          </a:p>
        </p:txBody>
      </p:sp>
      <p:cxnSp>
        <p:nvCxnSpPr>
          <p:cNvPr id="18" name="Connector 17"/>
          <p:cNvCxnSpPr/>
          <p:nvPr/>
        </p:nvCxnSpPr>
        <p:spPr>
          <a:xfrm>
            <a:off x="640080" y="5001768"/>
            <a:ext cx="10908792" cy="0"/>
          </a:xfrm>
          <a:prstGeom prst="line">
            <a:avLst/>
          </a:prstGeom>
          <a:ln w="9525">
            <a:solidFill>
              <a:srgbClr val="CFC9BC"/>
            </a:solidFill>
          </a:ln>
        </p:spPr>
      </p:cxnSp>
      <p:sp>
        <p:nvSpPr>
          <p:cNvPr id="19" name="TextBox 18"/>
          <p:cNvSpPr txBox="1"/>
          <p:nvPr/>
        </p:nvSpPr>
        <p:spPr>
          <a:xfrm>
            <a:off x="640080" y="5111496"/>
            <a:ext cx="914400" cy="822960"/>
          </a:xfrm>
          <a:prstGeom prst="rect">
            <a:avLst/>
          </a:prstGeom>
          <a:noFill/>
        </p:spPr>
        <p:txBody>
          <a:bodyPr wrap="square" lIns="0" tIns="0" rIns="0" bIns="0" anchor="ctr">
            <a:spAutoFit/>
          </a:bodyPr>
          <a:lstStyle/>
          <a:p>
            <a:pPr algn="l"/>
            <a:r>
              <a:rPr sz="4400" b="0" i="0">
                <a:solidFill>
                  <a:srgbClr val="D24E25"/>
                </a:solidFill>
                <a:latin typeface="Georgia"/>
              </a:rPr>
              <a:t>4</a:t>
            </a:r>
          </a:p>
        </p:txBody>
      </p:sp>
      <p:sp>
        <p:nvSpPr>
          <p:cNvPr id="20" name="TextBox 19"/>
          <p:cNvSpPr txBox="1"/>
          <p:nvPr/>
        </p:nvSpPr>
        <p:spPr>
          <a:xfrm>
            <a:off x="1508760" y="5111496"/>
            <a:ext cx="4023360" cy="822960"/>
          </a:xfrm>
          <a:prstGeom prst="rect">
            <a:avLst/>
          </a:prstGeom>
          <a:noFill/>
        </p:spPr>
        <p:txBody>
          <a:bodyPr wrap="square" lIns="0" tIns="0" rIns="0" bIns="0" anchor="ctr">
            <a:spAutoFit/>
          </a:bodyPr>
          <a:lstStyle/>
          <a:p>
            <a:pPr algn="l"/>
            <a:r>
              <a:rPr sz="2200" b="0" i="0">
                <a:solidFill>
                  <a:srgbClr val="171717"/>
                </a:solidFill>
                <a:latin typeface="Georgia"/>
              </a:rPr>
              <a:t>No credentials outside</a:t>
            </a:r>
          </a:p>
        </p:txBody>
      </p:sp>
      <p:sp>
        <p:nvSpPr>
          <p:cNvPr id="21" name="TextBox 20"/>
          <p:cNvSpPr txBox="1"/>
          <p:nvPr/>
        </p:nvSpPr>
        <p:spPr>
          <a:xfrm>
            <a:off x="5760720" y="5111496"/>
            <a:ext cx="5760720" cy="822960"/>
          </a:xfrm>
          <a:prstGeom prst="rect">
            <a:avLst/>
          </a:prstGeom>
          <a:noFill/>
        </p:spPr>
        <p:txBody>
          <a:bodyPr wrap="square" lIns="0" tIns="0" rIns="0" bIns="0" anchor="ctr">
            <a:spAutoFit/>
          </a:bodyPr>
          <a:lstStyle/>
          <a:p>
            <a:pPr algn="l"/>
            <a:r>
              <a:rPr sz="1500" b="0" i="0">
                <a:solidFill>
                  <a:srgbClr val="6B6760"/>
                </a:solidFill>
                <a:latin typeface="Segoe UI"/>
              </a:rPr>
              <a:t>CI gets Git access only. The deploy mechanism stays behind the cluster boundary.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05   Architecture</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System architecture</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05 / 12</a:t>
            </a:r>
          </a:p>
        </p:txBody>
      </p:sp>
      <p:sp>
        <p:nvSpPr>
          <p:cNvPr id="7" name="TextBox 6"/>
          <p:cNvSpPr txBox="1"/>
          <p:nvPr/>
        </p:nvSpPr>
        <p:spPr>
          <a:xfrm>
            <a:off x="640080" y="1691640"/>
            <a:ext cx="2743200" cy="274320"/>
          </a:xfrm>
          <a:prstGeom prst="rect">
            <a:avLst/>
          </a:prstGeom>
          <a:noFill/>
        </p:spPr>
        <p:txBody>
          <a:bodyPr wrap="square" lIns="0" tIns="0" rIns="0" bIns="0" anchor="t">
            <a:spAutoFit/>
          </a:bodyPr>
          <a:lstStyle/>
          <a:p>
            <a:pPr algn="l"/>
            <a:r>
              <a:rPr sz="1000" b="0" i="0">
                <a:solidFill>
                  <a:srgbClr val="6B6760"/>
                </a:solidFill>
                <a:latin typeface="Consolas"/>
              </a:rPr>
              <a:t>DEVELOPMENT</a:t>
            </a:r>
          </a:p>
        </p:txBody>
      </p:sp>
      <p:sp>
        <p:nvSpPr>
          <p:cNvPr id="8" name="TextBox 7"/>
          <p:cNvSpPr txBox="1"/>
          <p:nvPr/>
        </p:nvSpPr>
        <p:spPr>
          <a:xfrm>
            <a:off x="2971800" y="1691640"/>
            <a:ext cx="2743200" cy="274320"/>
          </a:xfrm>
          <a:prstGeom prst="rect">
            <a:avLst/>
          </a:prstGeom>
          <a:noFill/>
        </p:spPr>
        <p:txBody>
          <a:bodyPr wrap="square" lIns="0" tIns="0" rIns="0" bIns="0" anchor="t">
            <a:spAutoFit/>
          </a:bodyPr>
          <a:lstStyle/>
          <a:p>
            <a:pPr algn="l"/>
            <a:r>
              <a:rPr sz="1000" b="0" i="0">
                <a:solidFill>
                  <a:srgbClr val="6B6760"/>
                </a:solidFill>
                <a:latin typeface="Consolas"/>
              </a:rPr>
              <a:t>CI, BUILD AND TEST</a:t>
            </a:r>
          </a:p>
        </p:txBody>
      </p:sp>
      <p:sp>
        <p:nvSpPr>
          <p:cNvPr id="9" name="TextBox 8"/>
          <p:cNvSpPr txBox="1"/>
          <p:nvPr/>
        </p:nvSpPr>
        <p:spPr>
          <a:xfrm>
            <a:off x="5440680" y="1691640"/>
            <a:ext cx="2743200" cy="274320"/>
          </a:xfrm>
          <a:prstGeom prst="rect">
            <a:avLst/>
          </a:prstGeom>
          <a:noFill/>
        </p:spPr>
        <p:txBody>
          <a:bodyPr wrap="square" lIns="0" tIns="0" rIns="0" bIns="0" anchor="t">
            <a:spAutoFit/>
          </a:bodyPr>
          <a:lstStyle/>
          <a:p>
            <a:pPr algn="l"/>
            <a:r>
              <a:rPr sz="1000" b="0" i="0">
                <a:solidFill>
                  <a:srgbClr val="6B6760"/>
                </a:solidFill>
                <a:latin typeface="Consolas"/>
              </a:rPr>
              <a:t>ARTIFACTS AND CONFIG</a:t>
            </a:r>
          </a:p>
        </p:txBody>
      </p:sp>
      <p:sp>
        <p:nvSpPr>
          <p:cNvPr id="10" name="TextBox 9"/>
          <p:cNvSpPr txBox="1"/>
          <p:nvPr/>
        </p:nvSpPr>
        <p:spPr>
          <a:xfrm>
            <a:off x="8183879" y="1691640"/>
            <a:ext cx="2743200" cy="274320"/>
          </a:xfrm>
          <a:prstGeom prst="rect">
            <a:avLst/>
          </a:prstGeom>
          <a:noFill/>
        </p:spPr>
        <p:txBody>
          <a:bodyPr wrap="square" lIns="0" tIns="0" rIns="0" bIns="0" anchor="t">
            <a:spAutoFit/>
          </a:bodyPr>
          <a:lstStyle/>
          <a:p>
            <a:pPr algn="l"/>
            <a:r>
              <a:rPr sz="1000" b="0" i="0">
                <a:solidFill>
                  <a:srgbClr val="6B6760"/>
                </a:solidFill>
                <a:latin typeface="Consolas"/>
              </a:rPr>
              <a:t>KUBERNETES CLUSTER</a:t>
            </a:r>
          </a:p>
        </p:txBody>
      </p:sp>
      <p:sp>
        <p:nvSpPr>
          <p:cNvPr id="11" name="Rectangle 10"/>
          <p:cNvSpPr/>
          <p:nvPr/>
        </p:nvSpPr>
        <p:spPr>
          <a:xfrm>
            <a:off x="640080" y="2240280"/>
            <a:ext cx="1920240" cy="685800"/>
          </a:xfrm>
          <a:prstGeom prst="rect">
            <a:avLst/>
          </a:prstGeom>
          <a:noFill/>
          <a:ln w="12700">
            <a:solidFill>
              <a:srgbClr val="171717"/>
            </a:solidFill>
          </a:ln>
          <a:effectLst/>
        </p:spPr>
        <p:txBody>
          <a:bodyPr rtlCol="0" anchor="ctr"/>
          <a:lstStyle/>
          <a:p>
            <a:pPr algn="ctr"/>
            <a:endParaRPr/>
          </a:p>
        </p:txBody>
      </p:sp>
      <p:sp>
        <p:nvSpPr>
          <p:cNvPr id="12" name="TextBox 11"/>
          <p:cNvSpPr txBox="1"/>
          <p:nvPr/>
        </p:nvSpPr>
        <p:spPr>
          <a:xfrm>
            <a:off x="731519" y="2240280"/>
            <a:ext cx="1737360" cy="685800"/>
          </a:xfrm>
          <a:prstGeom prst="rect">
            <a:avLst/>
          </a:prstGeom>
          <a:noFill/>
        </p:spPr>
        <p:txBody>
          <a:bodyPr wrap="square" lIns="0" tIns="0" rIns="0" bIns="0" anchor="ctr">
            <a:spAutoFit/>
          </a:bodyPr>
          <a:lstStyle/>
          <a:p>
            <a:pPr algn="ctr"/>
            <a:r>
              <a:rPr sz="1400" b="1" i="0">
                <a:solidFill>
                  <a:srgbClr val="171717"/>
                </a:solidFill>
                <a:latin typeface="Segoe UI"/>
              </a:rPr>
              <a:t>Developer</a:t>
            </a:r>
          </a:p>
        </p:txBody>
      </p:sp>
      <p:sp>
        <p:nvSpPr>
          <p:cNvPr id="13" name="Rectangle 12"/>
          <p:cNvSpPr/>
          <p:nvPr/>
        </p:nvSpPr>
        <p:spPr>
          <a:xfrm>
            <a:off x="640080" y="3886200"/>
            <a:ext cx="1920240" cy="868680"/>
          </a:xfrm>
          <a:prstGeom prst="rect">
            <a:avLst/>
          </a:prstGeom>
          <a:noFill/>
          <a:ln w="12700">
            <a:solidFill>
              <a:srgbClr val="171717"/>
            </a:solidFill>
          </a:ln>
          <a:effectLst/>
        </p:spPr>
        <p:txBody>
          <a:bodyPr rtlCol="0" anchor="ctr"/>
          <a:lstStyle/>
          <a:p>
            <a:pPr algn="ctr"/>
            <a:endParaRPr/>
          </a:p>
        </p:txBody>
      </p:sp>
      <p:sp>
        <p:nvSpPr>
          <p:cNvPr id="14" name="TextBox 13"/>
          <p:cNvSpPr txBox="1"/>
          <p:nvPr/>
        </p:nvSpPr>
        <p:spPr>
          <a:xfrm>
            <a:off x="731519" y="3886200"/>
            <a:ext cx="1737360" cy="868680"/>
          </a:xfrm>
          <a:prstGeom prst="rect">
            <a:avLst/>
          </a:prstGeom>
          <a:noFill/>
        </p:spPr>
        <p:txBody>
          <a:bodyPr wrap="square" lIns="0" tIns="0" rIns="0" bIns="0" anchor="ctr">
            <a:spAutoFit/>
          </a:bodyPr>
          <a:lstStyle/>
          <a:p>
            <a:pPr algn="ctr"/>
            <a:r>
              <a:rPr sz="1400" b="1" i="0">
                <a:solidFill>
                  <a:srgbClr val="171717"/>
                </a:solidFill>
                <a:latin typeface="Segoe UI"/>
              </a:rPr>
              <a:t>Source repo</a:t>
            </a:r>
          </a:p>
          <a:p>
            <a:pPr algn="ctr"/>
            <a:r>
              <a:rPr sz="1100" b="0" i="0">
                <a:solidFill>
                  <a:srgbClr val="6B6760"/>
                </a:solidFill>
                <a:latin typeface="Consolas"/>
              </a:rPr>
              <a:t>todo-app</a:t>
            </a:r>
          </a:p>
        </p:txBody>
      </p:sp>
      <p:cxnSp>
        <p:nvCxnSpPr>
          <p:cNvPr id="15" name="Connector 14"/>
          <p:cNvCxnSpPr/>
          <p:nvPr/>
        </p:nvCxnSpPr>
        <p:spPr>
          <a:xfrm>
            <a:off x="1600200" y="2926080"/>
            <a:ext cx="0" cy="960120"/>
          </a:xfrm>
          <a:prstGeom prst="line">
            <a:avLst/>
          </a:prstGeom>
          <a:ln w="12700">
            <a:solidFill>
              <a:srgbClr val="171717"/>
            </a:solidFill>
            <a:tailEnd type="triangle" w="med" len="med"/>
          </a:ln>
        </p:spPr>
      </p:cxnSp>
      <p:sp>
        <p:nvSpPr>
          <p:cNvPr id="16" name="TextBox 15"/>
          <p:cNvSpPr txBox="1"/>
          <p:nvPr/>
        </p:nvSpPr>
        <p:spPr>
          <a:xfrm>
            <a:off x="1691640" y="3200400"/>
            <a:ext cx="1097280" cy="274320"/>
          </a:xfrm>
          <a:prstGeom prst="rect">
            <a:avLst/>
          </a:prstGeom>
          <a:noFill/>
        </p:spPr>
        <p:txBody>
          <a:bodyPr wrap="square" lIns="0" tIns="0" rIns="0" bIns="0" anchor="t">
            <a:spAutoFit/>
          </a:bodyPr>
          <a:lstStyle/>
          <a:p>
            <a:pPr algn="l"/>
            <a:r>
              <a:rPr sz="1000" b="0" i="0">
                <a:solidFill>
                  <a:srgbClr val="6B6760"/>
                </a:solidFill>
                <a:latin typeface="Consolas"/>
              </a:rPr>
              <a:t>git push</a:t>
            </a:r>
          </a:p>
        </p:txBody>
      </p:sp>
      <p:sp>
        <p:nvSpPr>
          <p:cNvPr id="17" name="Rectangle 16"/>
          <p:cNvSpPr/>
          <p:nvPr/>
        </p:nvSpPr>
        <p:spPr>
          <a:xfrm>
            <a:off x="2971800" y="2240280"/>
            <a:ext cx="2057400" cy="2514600"/>
          </a:xfrm>
          <a:prstGeom prst="rect">
            <a:avLst/>
          </a:prstGeom>
          <a:noFill/>
          <a:ln w="12700">
            <a:solidFill>
              <a:srgbClr val="171717"/>
            </a:solidFill>
          </a:ln>
          <a:effectLst/>
        </p:spPr>
        <p:txBody>
          <a:bodyPr rtlCol="0" anchor="ctr"/>
          <a:lstStyle/>
          <a:p>
            <a:pPr algn="ctr"/>
            <a:endParaRPr/>
          </a:p>
        </p:txBody>
      </p:sp>
      <p:sp>
        <p:nvSpPr>
          <p:cNvPr id="18" name="TextBox 17"/>
          <p:cNvSpPr txBox="1"/>
          <p:nvPr/>
        </p:nvSpPr>
        <p:spPr>
          <a:xfrm>
            <a:off x="3108960" y="2331720"/>
            <a:ext cx="1828800" cy="365760"/>
          </a:xfrm>
          <a:prstGeom prst="rect">
            <a:avLst/>
          </a:prstGeom>
          <a:noFill/>
        </p:spPr>
        <p:txBody>
          <a:bodyPr wrap="square" lIns="0" tIns="0" rIns="0" bIns="0" anchor="t">
            <a:spAutoFit/>
          </a:bodyPr>
          <a:lstStyle/>
          <a:p>
            <a:pPr algn="l"/>
            <a:r>
              <a:rPr sz="1400" b="1" i="0">
                <a:solidFill>
                  <a:srgbClr val="171717"/>
                </a:solidFill>
                <a:latin typeface="Segoe UI"/>
              </a:rPr>
              <a:t>CI pipeline</a:t>
            </a:r>
          </a:p>
        </p:txBody>
      </p:sp>
      <p:sp>
        <p:nvSpPr>
          <p:cNvPr id="19" name="TextBox 18"/>
          <p:cNvSpPr txBox="1"/>
          <p:nvPr/>
        </p:nvSpPr>
        <p:spPr>
          <a:xfrm>
            <a:off x="3108960" y="2743200"/>
            <a:ext cx="1828800" cy="1920240"/>
          </a:xfrm>
          <a:prstGeom prst="rect">
            <a:avLst/>
          </a:prstGeom>
          <a:noFill/>
        </p:spPr>
        <p:txBody>
          <a:bodyPr wrap="square" lIns="0" tIns="0" rIns="0" bIns="0" anchor="t">
            <a:spAutoFit/>
          </a:bodyPr>
          <a:lstStyle/>
          <a:p>
            <a:pPr algn="l">
              <a:spcAft>
                <a:spcPts val="600"/>
              </a:spcAft>
            </a:pPr>
            <a:r>
              <a:rPr sz="1200" b="0" i="0">
                <a:solidFill>
                  <a:srgbClr val="6B6760"/>
                </a:solidFill>
                <a:latin typeface="Consolas"/>
              </a:rPr>
              <a:t>1  run tests</a:t>
            </a:r>
          </a:p>
          <a:p>
            <a:pPr algn="l">
              <a:spcAft>
                <a:spcPts val="600"/>
              </a:spcAft>
            </a:pPr>
            <a:r>
              <a:rPr sz="1200" b="0" i="0">
                <a:solidFill>
                  <a:srgbClr val="6B6760"/>
                </a:solidFill>
                <a:latin typeface="Consolas"/>
              </a:rPr>
              <a:t>2  build image</a:t>
            </a:r>
          </a:p>
          <a:p>
            <a:pPr algn="l">
              <a:spcAft>
                <a:spcPts val="600"/>
              </a:spcAft>
            </a:pPr>
            <a:r>
              <a:rPr sz="1200" b="0" i="0">
                <a:solidFill>
                  <a:srgbClr val="6B6760"/>
                </a:solidFill>
                <a:latin typeface="Consolas"/>
              </a:rPr>
              <a:t>3  push image</a:t>
            </a:r>
          </a:p>
          <a:p>
            <a:pPr algn="l">
              <a:spcAft>
                <a:spcPts val="600"/>
              </a:spcAft>
            </a:pPr>
            <a:r>
              <a:rPr sz="1200" b="0" i="0">
                <a:solidFill>
                  <a:srgbClr val="6B6760"/>
                </a:solidFill>
                <a:latin typeface="Consolas"/>
              </a:rPr>
              <a:t>4  update tag</a:t>
            </a:r>
          </a:p>
        </p:txBody>
      </p:sp>
      <p:cxnSp>
        <p:nvCxnSpPr>
          <p:cNvPr id="20" name="Connector 19"/>
          <p:cNvCxnSpPr/>
          <p:nvPr/>
        </p:nvCxnSpPr>
        <p:spPr>
          <a:xfrm>
            <a:off x="2560320" y="4315968"/>
            <a:ext cx="411480" cy="0"/>
          </a:xfrm>
          <a:prstGeom prst="line">
            <a:avLst/>
          </a:prstGeom>
          <a:ln w="12700">
            <a:solidFill>
              <a:srgbClr val="171717"/>
            </a:solidFill>
            <a:tailEnd type="triangle" w="med" len="med"/>
          </a:ln>
        </p:spPr>
      </p:cxnSp>
      <p:sp>
        <p:nvSpPr>
          <p:cNvPr id="21" name="Rectangle 20"/>
          <p:cNvSpPr/>
          <p:nvPr/>
        </p:nvSpPr>
        <p:spPr>
          <a:xfrm>
            <a:off x="5440680" y="2240280"/>
            <a:ext cx="2331720" cy="914400"/>
          </a:xfrm>
          <a:prstGeom prst="rect">
            <a:avLst/>
          </a:prstGeom>
          <a:noFill/>
          <a:ln w="12700">
            <a:solidFill>
              <a:srgbClr val="171717"/>
            </a:solidFill>
          </a:ln>
          <a:effectLst/>
        </p:spPr>
        <p:txBody>
          <a:bodyPr rtlCol="0" anchor="ctr"/>
          <a:lstStyle/>
          <a:p>
            <a:pPr algn="ctr"/>
            <a:endParaRPr/>
          </a:p>
        </p:txBody>
      </p:sp>
      <p:sp>
        <p:nvSpPr>
          <p:cNvPr id="22" name="TextBox 21"/>
          <p:cNvSpPr txBox="1"/>
          <p:nvPr/>
        </p:nvSpPr>
        <p:spPr>
          <a:xfrm>
            <a:off x="5532120" y="2240280"/>
            <a:ext cx="2148839" cy="914400"/>
          </a:xfrm>
          <a:prstGeom prst="rect">
            <a:avLst/>
          </a:prstGeom>
          <a:noFill/>
        </p:spPr>
        <p:txBody>
          <a:bodyPr wrap="square" lIns="0" tIns="0" rIns="0" bIns="0" anchor="ctr">
            <a:spAutoFit/>
          </a:bodyPr>
          <a:lstStyle/>
          <a:p>
            <a:pPr algn="ctr"/>
            <a:r>
              <a:rPr sz="1400" b="1" i="0">
                <a:solidFill>
                  <a:srgbClr val="171717"/>
                </a:solidFill>
                <a:latin typeface="Segoe UI"/>
              </a:rPr>
              <a:t>Container registry</a:t>
            </a:r>
          </a:p>
          <a:p>
            <a:pPr algn="ctr"/>
            <a:r>
              <a:rPr sz="1100" b="0" i="0">
                <a:solidFill>
                  <a:srgbClr val="6B6760"/>
                </a:solidFill>
                <a:latin typeface="Consolas"/>
              </a:rPr>
              <a:t>tag = commit SHA</a:t>
            </a:r>
          </a:p>
        </p:txBody>
      </p:sp>
      <p:sp>
        <p:nvSpPr>
          <p:cNvPr id="23" name="Rectangle 22"/>
          <p:cNvSpPr/>
          <p:nvPr/>
        </p:nvSpPr>
        <p:spPr>
          <a:xfrm>
            <a:off x="5440680" y="3840480"/>
            <a:ext cx="2331720" cy="914400"/>
          </a:xfrm>
          <a:prstGeom prst="rect">
            <a:avLst/>
          </a:prstGeom>
          <a:noFill/>
          <a:ln w="12700">
            <a:solidFill>
              <a:srgbClr val="171717"/>
            </a:solidFill>
          </a:ln>
          <a:effectLst/>
        </p:spPr>
        <p:txBody>
          <a:bodyPr rtlCol="0" anchor="ctr"/>
          <a:lstStyle/>
          <a:p>
            <a:pPr algn="ctr"/>
            <a:endParaRPr/>
          </a:p>
        </p:txBody>
      </p:sp>
      <p:sp>
        <p:nvSpPr>
          <p:cNvPr id="24" name="TextBox 23"/>
          <p:cNvSpPr txBox="1"/>
          <p:nvPr/>
        </p:nvSpPr>
        <p:spPr>
          <a:xfrm>
            <a:off x="5532120" y="3840480"/>
            <a:ext cx="2148839" cy="914400"/>
          </a:xfrm>
          <a:prstGeom prst="rect">
            <a:avLst/>
          </a:prstGeom>
          <a:noFill/>
        </p:spPr>
        <p:txBody>
          <a:bodyPr wrap="square" lIns="0" tIns="0" rIns="0" bIns="0" anchor="ctr">
            <a:spAutoFit/>
          </a:bodyPr>
          <a:lstStyle/>
          <a:p>
            <a:pPr algn="ctr"/>
            <a:r>
              <a:rPr sz="1400" b="1" i="0">
                <a:solidFill>
                  <a:srgbClr val="171717"/>
                </a:solidFill>
                <a:latin typeface="Segoe UI"/>
              </a:rPr>
              <a:t>Config repo</a:t>
            </a:r>
          </a:p>
          <a:p>
            <a:pPr algn="ctr"/>
            <a:r>
              <a:rPr sz="1100" b="0" i="0">
                <a:solidFill>
                  <a:srgbClr val="6B6760"/>
                </a:solidFill>
                <a:latin typeface="Consolas"/>
              </a:rPr>
              <a:t>argo-deployment</a:t>
            </a:r>
          </a:p>
        </p:txBody>
      </p:sp>
      <p:cxnSp>
        <p:nvCxnSpPr>
          <p:cNvPr id="25" name="Connector 24"/>
          <p:cNvCxnSpPr/>
          <p:nvPr/>
        </p:nvCxnSpPr>
        <p:spPr>
          <a:xfrm>
            <a:off x="5029200" y="2697480"/>
            <a:ext cx="411480" cy="0"/>
          </a:xfrm>
          <a:prstGeom prst="line">
            <a:avLst/>
          </a:prstGeom>
          <a:ln w="12700">
            <a:solidFill>
              <a:srgbClr val="171717"/>
            </a:solidFill>
            <a:tailEnd type="triangle" w="med" len="med"/>
          </a:ln>
        </p:spPr>
      </p:cxnSp>
      <p:cxnSp>
        <p:nvCxnSpPr>
          <p:cNvPr id="26" name="Connector 25"/>
          <p:cNvCxnSpPr/>
          <p:nvPr/>
        </p:nvCxnSpPr>
        <p:spPr>
          <a:xfrm>
            <a:off x="5029200" y="4297680"/>
            <a:ext cx="411480" cy="0"/>
          </a:xfrm>
          <a:prstGeom prst="line">
            <a:avLst/>
          </a:prstGeom>
          <a:ln w="12700">
            <a:solidFill>
              <a:srgbClr val="171717"/>
            </a:solidFill>
            <a:tailEnd type="triangle" w="med" len="med"/>
          </a:ln>
        </p:spPr>
      </p:cxnSp>
      <p:sp>
        <p:nvSpPr>
          <p:cNvPr id="27" name="Rectangle 26"/>
          <p:cNvSpPr/>
          <p:nvPr/>
        </p:nvSpPr>
        <p:spPr>
          <a:xfrm>
            <a:off x="8183879" y="2011680"/>
            <a:ext cx="3364992" cy="3063240"/>
          </a:xfrm>
          <a:prstGeom prst="rect">
            <a:avLst/>
          </a:prstGeom>
          <a:noFill/>
          <a:ln w="12700">
            <a:solidFill>
              <a:srgbClr val="171717"/>
            </a:solidFill>
            <a:prstDash val="dash"/>
          </a:ln>
          <a:effectLst/>
        </p:spPr>
        <p:txBody>
          <a:bodyPr rtlCol="0" anchor="ctr"/>
          <a:lstStyle/>
          <a:p>
            <a:pPr algn="ctr"/>
            <a:endParaRPr/>
          </a:p>
        </p:txBody>
      </p:sp>
      <p:sp>
        <p:nvSpPr>
          <p:cNvPr id="28" name="Rectangle 27"/>
          <p:cNvSpPr/>
          <p:nvPr/>
        </p:nvSpPr>
        <p:spPr>
          <a:xfrm>
            <a:off x="8366760" y="3840480"/>
            <a:ext cx="1325880" cy="914400"/>
          </a:xfrm>
          <a:prstGeom prst="rect">
            <a:avLst/>
          </a:prstGeom>
          <a:solidFill>
            <a:srgbClr val="D24E25"/>
          </a:solidFill>
          <a:ln w="12700">
            <a:solidFill>
              <a:srgbClr val="D24E25"/>
            </a:solidFill>
          </a:ln>
          <a:effectLst/>
        </p:spPr>
        <p:txBody>
          <a:bodyPr rtlCol="0" anchor="ctr"/>
          <a:lstStyle/>
          <a:p>
            <a:pPr algn="ctr"/>
            <a:endParaRPr/>
          </a:p>
        </p:txBody>
      </p:sp>
      <p:sp>
        <p:nvSpPr>
          <p:cNvPr id="29" name="TextBox 28"/>
          <p:cNvSpPr txBox="1"/>
          <p:nvPr/>
        </p:nvSpPr>
        <p:spPr>
          <a:xfrm>
            <a:off x="8458200" y="3840480"/>
            <a:ext cx="1143000" cy="914400"/>
          </a:xfrm>
          <a:prstGeom prst="rect">
            <a:avLst/>
          </a:prstGeom>
          <a:noFill/>
        </p:spPr>
        <p:txBody>
          <a:bodyPr wrap="square" lIns="0" tIns="0" rIns="0" bIns="0" anchor="ctr">
            <a:spAutoFit/>
          </a:bodyPr>
          <a:lstStyle/>
          <a:p>
            <a:pPr algn="ctr"/>
            <a:r>
              <a:rPr sz="1400" b="1" i="0">
                <a:solidFill>
                  <a:srgbClr val="FFFFFF"/>
                </a:solidFill>
                <a:latin typeface="Segoe UI"/>
              </a:rPr>
              <a:t>ArgoCD</a:t>
            </a:r>
          </a:p>
        </p:txBody>
      </p:sp>
      <p:cxnSp>
        <p:nvCxnSpPr>
          <p:cNvPr id="30" name="Connector 29"/>
          <p:cNvCxnSpPr/>
          <p:nvPr/>
        </p:nvCxnSpPr>
        <p:spPr>
          <a:xfrm>
            <a:off x="7772400" y="4297680"/>
            <a:ext cx="594360" cy="0"/>
          </a:xfrm>
          <a:prstGeom prst="line">
            <a:avLst/>
          </a:prstGeom>
          <a:ln w="22225">
            <a:solidFill>
              <a:srgbClr val="D24E25"/>
            </a:solidFill>
            <a:tailEnd type="triangle" w="med" len="med"/>
          </a:ln>
        </p:spPr>
      </p:cxnSp>
      <p:sp>
        <p:nvSpPr>
          <p:cNvPr id="31" name="TextBox 30"/>
          <p:cNvSpPr txBox="1"/>
          <p:nvPr/>
        </p:nvSpPr>
        <p:spPr>
          <a:xfrm>
            <a:off x="5440680" y="4828032"/>
            <a:ext cx="2331720" cy="274320"/>
          </a:xfrm>
          <a:prstGeom prst="rect">
            <a:avLst/>
          </a:prstGeom>
          <a:noFill/>
        </p:spPr>
        <p:txBody>
          <a:bodyPr wrap="square" lIns="0" tIns="0" rIns="0" bIns="0" anchor="t">
            <a:spAutoFit/>
          </a:bodyPr>
          <a:lstStyle/>
          <a:p>
            <a:pPr algn="l"/>
            <a:r>
              <a:rPr sz="1000" b="0" i="0">
                <a:solidFill>
                  <a:srgbClr val="D24E25"/>
                </a:solidFill>
                <a:latin typeface="Consolas"/>
              </a:rPr>
              <a:t>ArgoCD pulls every 10 s</a:t>
            </a:r>
          </a:p>
        </p:txBody>
      </p:sp>
      <p:sp>
        <p:nvSpPr>
          <p:cNvPr id="32" name="Rectangle 31"/>
          <p:cNvSpPr/>
          <p:nvPr/>
        </p:nvSpPr>
        <p:spPr>
          <a:xfrm>
            <a:off x="10058400" y="2194560"/>
            <a:ext cx="1325880" cy="502920"/>
          </a:xfrm>
          <a:prstGeom prst="rect">
            <a:avLst/>
          </a:prstGeom>
          <a:noFill/>
          <a:ln w="12700">
            <a:solidFill>
              <a:srgbClr val="171717"/>
            </a:solidFill>
          </a:ln>
          <a:effectLst/>
        </p:spPr>
        <p:txBody>
          <a:bodyPr rtlCol="0" anchor="ctr"/>
          <a:lstStyle/>
          <a:p>
            <a:pPr algn="ctr"/>
            <a:endParaRPr/>
          </a:p>
        </p:txBody>
      </p:sp>
      <p:sp>
        <p:nvSpPr>
          <p:cNvPr id="33" name="TextBox 32"/>
          <p:cNvSpPr txBox="1"/>
          <p:nvPr/>
        </p:nvSpPr>
        <p:spPr>
          <a:xfrm>
            <a:off x="10149840" y="2194560"/>
            <a:ext cx="1143000" cy="502920"/>
          </a:xfrm>
          <a:prstGeom prst="rect">
            <a:avLst/>
          </a:prstGeom>
          <a:noFill/>
        </p:spPr>
        <p:txBody>
          <a:bodyPr wrap="square" lIns="0" tIns="0" rIns="0" bIns="0" anchor="ctr">
            <a:spAutoFit/>
          </a:bodyPr>
          <a:lstStyle/>
          <a:p>
            <a:pPr algn="ctr"/>
            <a:r>
              <a:rPr sz="1100" b="1" i="0">
                <a:solidFill>
                  <a:srgbClr val="171717"/>
                </a:solidFill>
                <a:latin typeface="Segoe UI"/>
              </a:rPr>
              <a:t>Deployment</a:t>
            </a:r>
          </a:p>
        </p:txBody>
      </p:sp>
      <p:sp>
        <p:nvSpPr>
          <p:cNvPr id="34" name="Rectangle 33"/>
          <p:cNvSpPr/>
          <p:nvPr/>
        </p:nvSpPr>
        <p:spPr>
          <a:xfrm>
            <a:off x="10058400" y="2880360"/>
            <a:ext cx="1325880" cy="502920"/>
          </a:xfrm>
          <a:prstGeom prst="rect">
            <a:avLst/>
          </a:prstGeom>
          <a:noFill/>
          <a:ln w="12700">
            <a:solidFill>
              <a:srgbClr val="171717"/>
            </a:solidFill>
          </a:ln>
          <a:effectLst/>
        </p:spPr>
        <p:txBody>
          <a:bodyPr rtlCol="0" anchor="ctr"/>
          <a:lstStyle/>
          <a:p>
            <a:pPr algn="ctr"/>
            <a:endParaRPr/>
          </a:p>
        </p:txBody>
      </p:sp>
      <p:sp>
        <p:nvSpPr>
          <p:cNvPr id="35" name="TextBox 34"/>
          <p:cNvSpPr txBox="1"/>
          <p:nvPr/>
        </p:nvSpPr>
        <p:spPr>
          <a:xfrm>
            <a:off x="10149840" y="2880360"/>
            <a:ext cx="1143000" cy="502920"/>
          </a:xfrm>
          <a:prstGeom prst="rect">
            <a:avLst/>
          </a:prstGeom>
          <a:noFill/>
        </p:spPr>
        <p:txBody>
          <a:bodyPr wrap="square" lIns="0" tIns="0" rIns="0" bIns="0" anchor="ctr">
            <a:spAutoFit/>
          </a:bodyPr>
          <a:lstStyle/>
          <a:p>
            <a:pPr algn="ctr"/>
            <a:r>
              <a:rPr sz="1100" b="1" i="0">
                <a:solidFill>
                  <a:srgbClr val="171717"/>
                </a:solidFill>
                <a:latin typeface="Segoe UI"/>
              </a:rPr>
              <a:t>ReplicaSet</a:t>
            </a:r>
          </a:p>
        </p:txBody>
      </p:sp>
      <p:sp>
        <p:nvSpPr>
          <p:cNvPr id="36" name="Rectangle 35"/>
          <p:cNvSpPr/>
          <p:nvPr/>
        </p:nvSpPr>
        <p:spPr>
          <a:xfrm>
            <a:off x="10058400" y="3566160"/>
            <a:ext cx="1325880" cy="502920"/>
          </a:xfrm>
          <a:prstGeom prst="rect">
            <a:avLst/>
          </a:prstGeom>
          <a:noFill/>
          <a:ln w="12700">
            <a:solidFill>
              <a:srgbClr val="171717"/>
            </a:solidFill>
          </a:ln>
          <a:effectLst/>
        </p:spPr>
        <p:txBody>
          <a:bodyPr rtlCol="0" anchor="ctr"/>
          <a:lstStyle/>
          <a:p>
            <a:pPr algn="ctr"/>
            <a:endParaRPr/>
          </a:p>
        </p:txBody>
      </p:sp>
      <p:sp>
        <p:nvSpPr>
          <p:cNvPr id="37" name="TextBox 36"/>
          <p:cNvSpPr txBox="1"/>
          <p:nvPr/>
        </p:nvSpPr>
        <p:spPr>
          <a:xfrm>
            <a:off x="10149840" y="3566160"/>
            <a:ext cx="1143000" cy="502920"/>
          </a:xfrm>
          <a:prstGeom prst="rect">
            <a:avLst/>
          </a:prstGeom>
          <a:noFill/>
        </p:spPr>
        <p:txBody>
          <a:bodyPr wrap="square" lIns="0" tIns="0" rIns="0" bIns="0" anchor="ctr">
            <a:spAutoFit/>
          </a:bodyPr>
          <a:lstStyle/>
          <a:p>
            <a:pPr algn="ctr"/>
            <a:r>
              <a:rPr sz="1100" b="1" i="0">
                <a:solidFill>
                  <a:srgbClr val="171717"/>
                </a:solidFill>
                <a:latin typeface="Segoe UI"/>
              </a:rPr>
              <a:t>3 pods</a:t>
            </a:r>
          </a:p>
        </p:txBody>
      </p:sp>
      <p:sp>
        <p:nvSpPr>
          <p:cNvPr id="38" name="Rectangle 37"/>
          <p:cNvSpPr/>
          <p:nvPr/>
        </p:nvSpPr>
        <p:spPr>
          <a:xfrm>
            <a:off x="10058400" y="4251960"/>
            <a:ext cx="1325880" cy="502920"/>
          </a:xfrm>
          <a:prstGeom prst="rect">
            <a:avLst/>
          </a:prstGeom>
          <a:noFill/>
          <a:ln w="12700">
            <a:solidFill>
              <a:srgbClr val="171717"/>
            </a:solidFill>
          </a:ln>
          <a:effectLst/>
        </p:spPr>
        <p:txBody>
          <a:bodyPr rtlCol="0" anchor="ctr"/>
          <a:lstStyle/>
          <a:p>
            <a:pPr algn="ctr"/>
            <a:endParaRPr/>
          </a:p>
        </p:txBody>
      </p:sp>
      <p:sp>
        <p:nvSpPr>
          <p:cNvPr id="39" name="TextBox 38"/>
          <p:cNvSpPr txBox="1"/>
          <p:nvPr/>
        </p:nvSpPr>
        <p:spPr>
          <a:xfrm>
            <a:off x="10149840" y="4251960"/>
            <a:ext cx="1143000" cy="502920"/>
          </a:xfrm>
          <a:prstGeom prst="rect">
            <a:avLst/>
          </a:prstGeom>
          <a:noFill/>
        </p:spPr>
        <p:txBody>
          <a:bodyPr wrap="square" lIns="0" tIns="0" rIns="0" bIns="0" anchor="ctr">
            <a:spAutoFit/>
          </a:bodyPr>
          <a:lstStyle/>
          <a:p>
            <a:pPr algn="ctr"/>
            <a:r>
              <a:rPr sz="1100" b="1" i="0">
                <a:solidFill>
                  <a:srgbClr val="171717"/>
                </a:solidFill>
                <a:latin typeface="Segoe UI"/>
              </a:rPr>
              <a:t>Service</a:t>
            </a:r>
          </a:p>
        </p:txBody>
      </p:sp>
      <p:cxnSp>
        <p:nvCxnSpPr>
          <p:cNvPr id="40" name="Connector 39"/>
          <p:cNvCxnSpPr/>
          <p:nvPr/>
        </p:nvCxnSpPr>
        <p:spPr>
          <a:xfrm>
            <a:off x="9692640" y="4297680"/>
            <a:ext cx="182880" cy="0"/>
          </a:xfrm>
          <a:prstGeom prst="line">
            <a:avLst/>
          </a:prstGeom>
          <a:ln w="12700">
            <a:solidFill>
              <a:srgbClr val="171717"/>
            </a:solidFill>
          </a:ln>
        </p:spPr>
      </p:cxnSp>
      <p:cxnSp>
        <p:nvCxnSpPr>
          <p:cNvPr id="41" name="Connector 40"/>
          <p:cNvCxnSpPr/>
          <p:nvPr/>
        </p:nvCxnSpPr>
        <p:spPr>
          <a:xfrm>
            <a:off x="9875520" y="2441448"/>
            <a:ext cx="0" cy="2057400"/>
          </a:xfrm>
          <a:prstGeom prst="line">
            <a:avLst/>
          </a:prstGeom>
          <a:ln w="12700">
            <a:solidFill>
              <a:srgbClr val="171717"/>
            </a:solidFill>
          </a:ln>
        </p:spPr>
      </p:cxnSp>
      <p:cxnSp>
        <p:nvCxnSpPr>
          <p:cNvPr id="42" name="Connector 41"/>
          <p:cNvCxnSpPr/>
          <p:nvPr/>
        </p:nvCxnSpPr>
        <p:spPr>
          <a:xfrm>
            <a:off x="9875520" y="2441448"/>
            <a:ext cx="182880" cy="0"/>
          </a:xfrm>
          <a:prstGeom prst="line">
            <a:avLst/>
          </a:prstGeom>
          <a:ln w="12700">
            <a:solidFill>
              <a:srgbClr val="171717"/>
            </a:solidFill>
            <a:tailEnd type="triangle" w="med" len="med"/>
          </a:ln>
        </p:spPr>
      </p:cxnSp>
      <p:cxnSp>
        <p:nvCxnSpPr>
          <p:cNvPr id="43" name="Connector 42"/>
          <p:cNvCxnSpPr/>
          <p:nvPr/>
        </p:nvCxnSpPr>
        <p:spPr>
          <a:xfrm>
            <a:off x="9875520" y="3127248"/>
            <a:ext cx="182880" cy="0"/>
          </a:xfrm>
          <a:prstGeom prst="line">
            <a:avLst/>
          </a:prstGeom>
          <a:ln w="12700">
            <a:solidFill>
              <a:srgbClr val="171717"/>
            </a:solidFill>
            <a:tailEnd type="triangle" w="med" len="med"/>
          </a:ln>
        </p:spPr>
      </p:cxnSp>
      <p:cxnSp>
        <p:nvCxnSpPr>
          <p:cNvPr id="44" name="Connector 43"/>
          <p:cNvCxnSpPr/>
          <p:nvPr/>
        </p:nvCxnSpPr>
        <p:spPr>
          <a:xfrm>
            <a:off x="9875520" y="3813048"/>
            <a:ext cx="182880" cy="0"/>
          </a:xfrm>
          <a:prstGeom prst="line">
            <a:avLst/>
          </a:prstGeom>
          <a:ln w="12700">
            <a:solidFill>
              <a:srgbClr val="171717"/>
            </a:solidFill>
            <a:tailEnd type="triangle" w="med" len="med"/>
          </a:ln>
        </p:spPr>
      </p:cxnSp>
      <p:cxnSp>
        <p:nvCxnSpPr>
          <p:cNvPr id="45" name="Connector 44"/>
          <p:cNvCxnSpPr/>
          <p:nvPr/>
        </p:nvCxnSpPr>
        <p:spPr>
          <a:xfrm>
            <a:off x="9875520" y="4498848"/>
            <a:ext cx="182880" cy="0"/>
          </a:xfrm>
          <a:prstGeom prst="line">
            <a:avLst/>
          </a:prstGeom>
          <a:ln w="12700">
            <a:solidFill>
              <a:srgbClr val="171717"/>
            </a:solidFill>
            <a:tailEnd type="triangle" w="med" len="med"/>
          </a:ln>
        </p:spPr>
      </p:cxnSp>
      <p:cxnSp>
        <p:nvCxnSpPr>
          <p:cNvPr id="46" name="Connector 45"/>
          <p:cNvCxnSpPr/>
          <p:nvPr/>
        </p:nvCxnSpPr>
        <p:spPr>
          <a:xfrm flipH="1" flipV="1">
            <a:off x="7772400" y="2834640"/>
            <a:ext cx="2286000" cy="804672"/>
          </a:xfrm>
          <a:prstGeom prst="line">
            <a:avLst/>
          </a:prstGeom>
          <a:ln w="12700">
            <a:solidFill>
              <a:srgbClr val="6B6760"/>
            </a:solidFill>
            <a:prstDash val="dash"/>
            <a:tailEnd type="triangle" w="med" len="med"/>
          </a:ln>
        </p:spPr>
      </p:cxnSp>
      <p:sp>
        <p:nvSpPr>
          <p:cNvPr id="47" name="TextBox 46"/>
          <p:cNvSpPr txBox="1"/>
          <p:nvPr/>
        </p:nvSpPr>
        <p:spPr>
          <a:xfrm>
            <a:off x="8321040" y="2651760"/>
            <a:ext cx="1463040" cy="274320"/>
          </a:xfrm>
          <a:prstGeom prst="rect">
            <a:avLst/>
          </a:prstGeom>
          <a:noFill/>
        </p:spPr>
        <p:txBody>
          <a:bodyPr wrap="square" lIns="0" tIns="0" rIns="0" bIns="0" anchor="t">
            <a:spAutoFit/>
          </a:bodyPr>
          <a:lstStyle/>
          <a:p>
            <a:pPr algn="l"/>
            <a:r>
              <a:rPr sz="1000" b="0" i="0">
                <a:solidFill>
                  <a:srgbClr val="6B6760"/>
                </a:solidFill>
                <a:latin typeface="Consolas"/>
              </a:rPr>
              <a:t>pods pull image</a:t>
            </a:r>
          </a:p>
        </p:txBody>
      </p:sp>
      <p:cxnSp>
        <p:nvCxnSpPr>
          <p:cNvPr id="48" name="Connector 47"/>
          <p:cNvCxnSpPr/>
          <p:nvPr/>
        </p:nvCxnSpPr>
        <p:spPr>
          <a:xfrm>
            <a:off x="3995928" y="5577840"/>
            <a:ext cx="5879592" cy="0"/>
          </a:xfrm>
          <a:prstGeom prst="line">
            <a:avLst/>
          </a:prstGeom>
          <a:ln w="19050">
            <a:solidFill>
              <a:srgbClr val="D24E25"/>
            </a:solidFill>
            <a:prstDash val="dash"/>
          </a:ln>
        </p:spPr>
      </p:cxnSp>
      <p:cxnSp>
        <p:nvCxnSpPr>
          <p:cNvPr id="49" name="Connector 48"/>
          <p:cNvCxnSpPr/>
          <p:nvPr/>
        </p:nvCxnSpPr>
        <p:spPr>
          <a:xfrm>
            <a:off x="3995928" y="4754880"/>
            <a:ext cx="0" cy="822960"/>
          </a:xfrm>
          <a:prstGeom prst="line">
            <a:avLst/>
          </a:prstGeom>
          <a:ln w="19050">
            <a:solidFill>
              <a:srgbClr val="D24E25"/>
            </a:solidFill>
            <a:prstDash val="dash"/>
          </a:ln>
        </p:spPr>
      </p:cxnSp>
      <p:cxnSp>
        <p:nvCxnSpPr>
          <p:cNvPr id="50" name="Connector 49"/>
          <p:cNvCxnSpPr/>
          <p:nvPr/>
        </p:nvCxnSpPr>
        <p:spPr>
          <a:xfrm>
            <a:off x="9875520" y="5074920"/>
            <a:ext cx="0" cy="502920"/>
          </a:xfrm>
          <a:prstGeom prst="line">
            <a:avLst/>
          </a:prstGeom>
          <a:ln w="19050">
            <a:solidFill>
              <a:srgbClr val="D24E25"/>
            </a:solidFill>
            <a:prstDash val="dash"/>
          </a:ln>
        </p:spPr>
      </p:cxnSp>
      <p:sp>
        <p:nvSpPr>
          <p:cNvPr id="51" name="TextBox 50"/>
          <p:cNvSpPr txBox="1"/>
          <p:nvPr/>
        </p:nvSpPr>
        <p:spPr>
          <a:xfrm>
            <a:off x="4846320" y="5650992"/>
            <a:ext cx="4206240" cy="320040"/>
          </a:xfrm>
          <a:prstGeom prst="rect">
            <a:avLst/>
          </a:prstGeom>
          <a:noFill/>
        </p:spPr>
        <p:txBody>
          <a:bodyPr wrap="square" lIns="0" tIns="0" rIns="0" bIns="0" anchor="t">
            <a:spAutoFit/>
          </a:bodyPr>
          <a:lstStyle/>
          <a:p>
            <a:pPr algn="ctr"/>
            <a:r>
              <a:rPr sz="1200" b="0" i="0">
                <a:solidFill>
                  <a:srgbClr val="D24E25"/>
                </a:solidFill>
                <a:latin typeface="Consolas"/>
              </a:rPr>
              <a:t>no connection between CI and the cluster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06   Flow</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How one change reaches the cluster</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06 / 12</a:t>
            </a:r>
          </a:p>
        </p:txBody>
      </p:sp>
      <p:cxnSp>
        <p:nvCxnSpPr>
          <p:cNvPr id="7" name="Connector 6"/>
          <p:cNvCxnSpPr/>
          <p:nvPr/>
        </p:nvCxnSpPr>
        <p:spPr>
          <a:xfrm>
            <a:off x="640080" y="3246120"/>
            <a:ext cx="10908792" cy="0"/>
          </a:xfrm>
          <a:prstGeom prst="line">
            <a:avLst/>
          </a:prstGeom>
          <a:ln w="15875">
            <a:solidFill>
              <a:srgbClr val="171717"/>
            </a:solidFill>
          </a:ln>
        </p:spPr>
      </p:cxnSp>
      <p:sp>
        <p:nvSpPr>
          <p:cNvPr id="8" name="Rectangle 7"/>
          <p:cNvSpPr/>
          <p:nvPr/>
        </p:nvSpPr>
        <p:spPr>
          <a:xfrm>
            <a:off x="640080" y="3163824"/>
            <a:ext cx="164592" cy="164592"/>
          </a:xfrm>
          <a:prstGeom prst="rect">
            <a:avLst/>
          </a:prstGeom>
          <a:solidFill>
            <a:srgbClr val="171717"/>
          </a:solidFill>
          <a:ln>
            <a:noFill/>
          </a:ln>
          <a:effectLst/>
        </p:spPr>
        <p:txBody>
          <a:bodyPr rtlCol="0" anchor="ctr"/>
          <a:lstStyle/>
          <a:p>
            <a:pPr algn="ctr"/>
            <a:endParaRPr/>
          </a:p>
        </p:txBody>
      </p:sp>
      <p:sp>
        <p:nvSpPr>
          <p:cNvPr id="9" name="TextBox 8"/>
          <p:cNvSpPr txBox="1"/>
          <p:nvPr/>
        </p:nvSpPr>
        <p:spPr>
          <a:xfrm>
            <a:off x="640080" y="2514600"/>
            <a:ext cx="1998878" cy="274320"/>
          </a:xfrm>
          <a:prstGeom prst="rect">
            <a:avLst/>
          </a:prstGeom>
          <a:noFill/>
        </p:spPr>
        <p:txBody>
          <a:bodyPr wrap="square" lIns="0" tIns="0" rIns="0" bIns="0" anchor="t">
            <a:spAutoFit/>
          </a:bodyPr>
          <a:lstStyle/>
          <a:p>
            <a:pPr algn="l"/>
            <a:r>
              <a:rPr sz="1000" b="0" i="0">
                <a:solidFill>
                  <a:srgbClr val="6B6760"/>
                </a:solidFill>
                <a:latin typeface="Consolas"/>
              </a:rPr>
              <a:t>STEP 1</a:t>
            </a:r>
          </a:p>
        </p:txBody>
      </p:sp>
      <p:sp>
        <p:nvSpPr>
          <p:cNvPr id="10" name="TextBox 9"/>
          <p:cNvSpPr txBox="1"/>
          <p:nvPr/>
        </p:nvSpPr>
        <p:spPr>
          <a:xfrm>
            <a:off x="640080" y="3474720"/>
            <a:ext cx="1953158" cy="457200"/>
          </a:xfrm>
          <a:prstGeom prst="rect">
            <a:avLst/>
          </a:prstGeom>
          <a:noFill/>
        </p:spPr>
        <p:txBody>
          <a:bodyPr wrap="square" lIns="0" tIns="0" rIns="0" bIns="0" anchor="t">
            <a:spAutoFit/>
          </a:bodyPr>
          <a:lstStyle/>
          <a:p>
            <a:pPr algn="l"/>
            <a:r>
              <a:rPr sz="2400" b="0" i="0">
                <a:solidFill>
                  <a:srgbClr val="171717"/>
                </a:solidFill>
                <a:latin typeface="Georgia"/>
              </a:rPr>
              <a:t>Commit</a:t>
            </a:r>
          </a:p>
        </p:txBody>
      </p:sp>
      <p:sp>
        <p:nvSpPr>
          <p:cNvPr id="11" name="TextBox 10"/>
          <p:cNvSpPr txBox="1"/>
          <p:nvPr/>
        </p:nvSpPr>
        <p:spPr>
          <a:xfrm>
            <a:off x="640080" y="4023360"/>
            <a:ext cx="1861718" cy="1371600"/>
          </a:xfrm>
          <a:prstGeom prst="rect">
            <a:avLst/>
          </a:prstGeom>
          <a:noFill/>
        </p:spPr>
        <p:txBody>
          <a:bodyPr wrap="square" lIns="0" tIns="0" rIns="0" bIns="0" anchor="t">
            <a:spAutoFit/>
          </a:bodyPr>
          <a:lstStyle/>
          <a:p>
            <a:pPr algn="l"/>
            <a:r>
              <a:rPr sz="1400" b="0" i="0">
                <a:solidFill>
                  <a:srgbClr val="6B6760"/>
                </a:solidFill>
                <a:latin typeface="Segoe UI"/>
              </a:rPr>
              <a:t>Developer pushes code to todo-app.</a:t>
            </a:r>
          </a:p>
        </p:txBody>
      </p:sp>
      <p:sp>
        <p:nvSpPr>
          <p:cNvPr id="12" name="Rectangle 11"/>
          <p:cNvSpPr/>
          <p:nvPr/>
        </p:nvSpPr>
        <p:spPr>
          <a:xfrm>
            <a:off x="2821838" y="3163824"/>
            <a:ext cx="164592" cy="164592"/>
          </a:xfrm>
          <a:prstGeom prst="rect">
            <a:avLst/>
          </a:prstGeom>
          <a:solidFill>
            <a:srgbClr val="171717"/>
          </a:solidFill>
          <a:ln>
            <a:noFill/>
          </a:ln>
          <a:effectLst/>
        </p:spPr>
        <p:txBody>
          <a:bodyPr rtlCol="0" anchor="ctr"/>
          <a:lstStyle/>
          <a:p>
            <a:pPr algn="ctr"/>
            <a:endParaRPr/>
          </a:p>
        </p:txBody>
      </p:sp>
      <p:sp>
        <p:nvSpPr>
          <p:cNvPr id="13" name="TextBox 12"/>
          <p:cNvSpPr txBox="1"/>
          <p:nvPr/>
        </p:nvSpPr>
        <p:spPr>
          <a:xfrm>
            <a:off x="2821838" y="2514600"/>
            <a:ext cx="1998878" cy="274320"/>
          </a:xfrm>
          <a:prstGeom prst="rect">
            <a:avLst/>
          </a:prstGeom>
          <a:noFill/>
        </p:spPr>
        <p:txBody>
          <a:bodyPr wrap="square" lIns="0" tIns="0" rIns="0" bIns="0" anchor="t">
            <a:spAutoFit/>
          </a:bodyPr>
          <a:lstStyle/>
          <a:p>
            <a:pPr algn="l"/>
            <a:r>
              <a:rPr sz="1000" b="0" i="0">
                <a:solidFill>
                  <a:srgbClr val="6B6760"/>
                </a:solidFill>
                <a:latin typeface="Consolas"/>
              </a:rPr>
              <a:t>STEP 2</a:t>
            </a:r>
          </a:p>
        </p:txBody>
      </p:sp>
      <p:sp>
        <p:nvSpPr>
          <p:cNvPr id="14" name="TextBox 13"/>
          <p:cNvSpPr txBox="1"/>
          <p:nvPr/>
        </p:nvSpPr>
        <p:spPr>
          <a:xfrm>
            <a:off x="2821838" y="3474720"/>
            <a:ext cx="1953158" cy="457200"/>
          </a:xfrm>
          <a:prstGeom prst="rect">
            <a:avLst/>
          </a:prstGeom>
          <a:noFill/>
        </p:spPr>
        <p:txBody>
          <a:bodyPr wrap="square" lIns="0" tIns="0" rIns="0" bIns="0" anchor="t">
            <a:spAutoFit/>
          </a:bodyPr>
          <a:lstStyle/>
          <a:p>
            <a:pPr algn="l"/>
            <a:r>
              <a:rPr sz="2400" b="0" i="0">
                <a:solidFill>
                  <a:srgbClr val="171717"/>
                </a:solidFill>
                <a:latin typeface="Georgia"/>
              </a:rPr>
              <a:t>Build</a:t>
            </a:r>
          </a:p>
        </p:txBody>
      </p:sp>
      <p:sp>
        <p:nvSpPr>
          <p:cNvPr id="15" name="TextBox 14"/>
          <p:cNvSpPr txBox="1"/>
          <p:nvPr/>
        </p:nvSpPr>
        <p:spPr>
          <a:xfrm>
            <a:off x="2821838" y="4023360"/>
            <a:ext cx="1861718" cy="1371600"/>
          </a:xfrm>
          <a:prstGeom prst="rect">
            <a:avLst/>
          </a:prstGeom>
          <a:noFill/>
        </p:spPr>
        <p:txBody>
          <a:bodyPr wrap="square" lIns="0" tIns="0" rIns="0" bIns="0" anchor="t">
            <a:spAutoFit/>
          </a:bodyPr>
          <a:lstStyle/>
          <a:p>
            <a:pPr algn="l"/>
            <a:r>
              <a:rPr sz="1400" b="0" i="0">
                <a:solidFill>
                  <a:srgbClr val="6B6760"/>
                </a:solidFill>
                <a:latin typeface="Segoe UI"/>
              </a:rPr>
              <a:t>Tests run inside docker build. Image tagged with the commit SHA.</a:t>
            </a:r>
          </a:p>
        </p:txBody>
      </p:sp>
      <p:sp>
        <p:nvSpPr>
          <p:cNvPr id="16" name="Rectangle 15"/>
          <p:cNvSpPr/>
          <p:nvPr/>
        </p:nvSpPr>
        <p:spPr>
          <a:xfrm>
            <a:off x="5003596" y="3163824"/>
            <a:ext cx="164592" cy="164592"/>
          </a:xfrm>
          <a:prstGeom prst="rect">
            <a:avLst/>
          </a:prstGeom>
          <a:solidFill>
            <a:srgbClr val="171717"/>
          </a:solidFill>
          <a:ln>
            <a:noFill/>
          </a:ln>
          <a:effectLst/>
        </p:spPr>
        <p:txBody>
          <a:bodyPr rtlCol="0" anchor="ctr"/>
          <a:lstStyle/>
          <a:p>
            <a:pPr algn="ctr"/>
            <a:endParaRPr/>
          </a:p>
        </p:txBody>
      </p:sp>
      <p:sp>
        <p:nvSpPr>
          <p:cNvPr id="17" name="TextBox 16"/>
          <p:cNvSpPr txBox="1"/>
          <p:nvPr/>
        </p:nvSpPr>
        <p:spPr>
          <a:xfrm>
            <a:off x="5003596" y="2514600"/>
            <a:ext cx="1998878" cy="274320"/>
          </a:xfrm>
          <a:prstGeom prst="rect">
            <a:avLst/>
          </a:prstGeom>
          <a:noFill/>
        </p:spPr>
        <p:txBody>
          <a:bodyPr wrap="square" lIns="0" tIns="0" rIns="0" bIns="0" anchor="t">
            <a:spAutoFit/>
          </a:bodyPr>
          <a:lstStyle/>
          <a:p>
            <a:pPr algn="l"/>
            <a:r>
              <a:rPr sz="1000" b="0" i="0">
                <a:solidFill>
                  <a:srgbClr val="6B6760"/>
                </a:solidFill>
                <a:latin typeface="Consolas"/>
              </a:rPr>
              <a:t>STEP 3</a:t>
            </a:r>
          </a:p>
        </p:txBody>
      </p:sp>
      <p:sp>
        <p:nvSpPr>
          <p:cNvPr id="18" name="TextBox 17"/>
          <p:cNvSpPr txBox="1"/>
          <p:nvPr/>
        </p:nvSpPr>
        <p:spPr>
          <a:xfrm>
            <a:off x="5003596" y="3474720"/>
            <a:ext cx="1953158" cy="457200"/>
          </a:xfrm>
          <a:prstGeom prst="rect">
            <a:avLst/>
          </a:prstGeom>
          <a:noFill/>
        </p:spPr>
        <p:txBody>
          <a:bodyPr wrap="square" lIns="0" tIns="0" rIns="0" bIns="0" anchor="t">
            <a:spAutoFit/>
          </a:bodyPr>
          <a:lstStyle/>
          <a:p>
            <a:pPr algn="l"/>
            <a:r>
              <a:rPr sz="2400" b="0" i="0">
                <a:solidFill>
                  <a:srgbClr val="171717"/>
                </a:solidFill>
                <a:latin typeface="Georgia"/>
              </a:rPr>
              <a:t>Update</a:t>
            </a:r>
          </a:p>
        </p:txBody>
      </p:sp>
      <p:sp>
        <p:nvSpPr>
          <p:cNvPr id="19" name="TextBox 18"/>
          <p:cNvSpPr txBox="1"/>
          <p:nvPr/>
        </p:nvSpPr>
        <p:spPr>
          <a:xfrm>
            <a:off x="5003596" y="4023360"/>
            <a:ext cx="1861718" cy="1371600"/>
          </a:xfrm>
          <a:prstGeom prst="rect">
            <a:avLst/>
          </a:prstGeom>
          <a:noFill/>
        </p:spPr>
        <p:txBody>
          <a:bodyPr wrap="square" lIns="0" tIns="0" rIns="0" bIns="0" anchor="t">
            <a:spAutoFit/>
          </a:bodyPr>
          <a:lstStyle/>
          <a:p>
            <a:pPr algn="l"/>
            <a:r>
              <a:rPr sz="1400" b="0" i="0">
                <a:solidFill>
                  <a:srgbClr val="6B6760"/>
                </a:solidFill>
                <a:latin typeface="Segoe UI"/>
              </a:rPr>
              <a:t>CI edits one line, the image tag, in argo-deployment and pushes.</a:t>
            </a:r>
          </a:p>
        </p:txBody>
      </p:sp>
      <p:sp>
        <p:nvSpPr>
          <p:cNvPr id="20" name="Rectangle 19"/>
          <p:cNvSpPr/>
          <p:nvPr/>
        </p:nvSpPr>
        <p:spPr>
          <a:xfrm>
            <a:off x="7185355" y="3163824"/>
            <a:ext cx="164592" cy="164592"/>
          </a:xfrm>
          <a:prstGeom prst="rect">
            <a:avLst/>
          </a:prstGeom>
          <a:solidFill>
            <a:srgbClr val="D24E25"/>
          </a:solidFill>
          <a:ln>
            <a:noFill/>
          </a:ln>
          <a:effectLst/>
        </p:spPr>
        <p:txBody>
          <a:bodyPr rtlCol="0" anchor="ctr"/>
          <a:lstStyle/>
          <a:p>
            <a:pPr algn="ctr"/>
            <a:endParaRPr/>
          </a:p>
        </p:txBody>
      </p:sp>
      <p:sp>
        <p:nvSpPr>
          <p:cNvPr id="21" name="TextBox 20"/>
          <p:cNvSpPr txBox="1"/>
          <p:nvPr/>
        </p:nvSpPr>
        <p:spPr>
          <a:xfrm>
            <a:off x="7185355" y="2514600"/>
            <a:ext cx="1998878" cy="274320"/>
          </a:xfrm>
          <a:prstGeom prst="rect">
            <a:avLst/>
          </a:prstGeom>
          <a:noFill/>
        </p:spPr>
        <p:txBody>
          <a:bodyPr wrap="square" lIns="0" tIns="0" rIns="0" bIns="0" anchor="t">
            <a:spAutoFit/>
          </a:bodyPr>
          <a:lstStyle/>
          <a:p>
            <a:pPr algn="l"/>
            <a:r>
              <a:rPr sz="1000" b="0" i="0">
                <a:solidFill>
                  <a:srgbClr val="6B6760"/>
                </a:solidFill>
                <a:latin typeface="Consolas"/>
              </a:rPr>
              <a:t>STEP 4</a:t>
            </a:r>
          </a:p>
        </p:txBody>
      </p:sp>
      <p:sp>
        <p:nvSpPr>
          <p:cNvPr id="22" name="TextBox 21"/>
          <p:cNvSpPr txBox="1"/>
          <p:nvPr/>
        </p:nvSpPr>
        <p:spPr>
          <a:xfrm>
            <a:off x="7185355" y="3474720"/>
            <a:ext cx="1953158" cy="457200"/>
          </a:xfrm>
          <a:prstGeom prst="rect">
            <a:avLst/>
          </a:prstGeom>
          <a:noFill/>
        </p:spPr>
        <p:txBody>
          <a:bodyPr wrap="square" lIns="0" tIns="0" rIns="0" bIns="0" anchor="t">
            <a:spAutoFit/>
          </a:bodyPr>
          <a:lstStyle/>
          <a:p>
            <a:pPr algn="l"/>
            <a:r>
              <a:rPr sz="2400" b="0" i="0">
                <a:solidFill>
                  <a:srgbClr val="D24E25"/>
                </a:solidFill>
                <a:latin typeface="Georgia"/>
              </a:rPr>
              <a:t>Detect</a:t>
            </a:r>
          </a:p>
        </p:txBody>
      </p:sp>
      <p:sp>
        <p:nvSpPr>
          <p:cNvPr id="23" name="TextBox 22"/>
          <p:cNvSpPr txBox="1"/>
          <p:nvPr/>
        </p:nvSpPr>
        <p:spPr>
          <a:xfrm>
            <a:off x="7185355" y="4023360"/>
            <a:ext cx="1861718" cy="1371600"/>
          </a:xfrm>
          <a:prstGeom prst="rect">
            <a:avLst/>
          </a:prstGeom>
          <a:noFill/>
        </p:spPr>
        <p:txBody>
          <a:bodyPr wrap="square" lIns="0" tIns="0" rIns="0" bIns="0" anchor="t">
            <a:spAutoFit/>
          </a:bodyPr>
          <a:lstStyle/>
          <a:p>
            <a:pPr algn="l"/>
            <a:r>
              <a:rPr sz="1400" b="0" i="0">
                <a:solidFill>
                  <a:srgbClr val="6B6760"/>
                </a:solidFill>
                <a:latin typeface="Segoe UI"/>
              </a:rPr>
              <a:t>ArgoCD sees that Git and the cluster differ.</a:t>
            </a:r>
          </a:p>
        </p:txBody>
      </p:sp>
      <p:sp>
        <p:nvSpPr>
          <p:cNvPr id="24" name="Rectangle 23"/>
          <p:cNvSpPr/>
          <p:nvPr/>
        </p:nvSpPr>
        <p:spPr>
          <a:xfrm>
            <a:off x="9367113" y="3163824"/>
            <a:ext cx="164592" cy="164592"/>
          </a:xfrm>
          <a:prstGeom prst="rect">
            <a:avLst/>
          </a:prstGeom>
          <a:solidFill>
            <a:srgbClr val="D24E25"/>
          </a:solidFill>
          <a:ln>
            <a:noFill/>
          </a:ln>
          <a:effectLst/>
        </p:spPr>
        <p:txBody>
          <a:bodyPr rtlCol="0" anchor="ctr"/>
          <a:lstStyle/>
          <a:p>
            <a:pPr algn="ctr"/>
            <a:endParaRPr/>
          </a:p>
        </p:txBody>
      </p:sp>
      <p:sp>
        <p:nvSpPr>
          <p:cNvPr id="25" name="TextBox 24"/>
          <p:cNvSpPr txBox="1"/>
          <p:nvPr/>
        </p:nvSpPr>
        <p:spPr>
          <a:xfrm>
            <a:off x="9367113" y="2514600"/>
            <a:ext cx="1998878" cy="274320"/>
          </a:xfrm>
          <a:prstGeom prst="rect">
            <a:avLst/>
          </a:prstGeom>
          <a:noFill/>
        </p:spPr>
        <p:txBody>
          <a:bodyPr wrap="square" lIns="0" tIns="0" rIns="0" bIns="0" anchor="t">
            <a:spAutoFit/>
          </a:bodyPr>
          <a:lstStyle/>
          <a:p>
            <a:pPr algn="l"/>
            <a:r>
              <a:rPr sz="1000" b="0" i="0">
                <a:solidFill>
                  <a:srgbClr val="6B6760"/>
                </a:solidFill>
                <a:latin typeface="Consolas"/>
              </a:rPr>
              <a:t>STEP 5</a:t>
            </a:r>
          </a:p>
        </p:txBody>
      </p:sp>
      <p:sp>
        <p:nvSpPr>
          <p:cNvPr id="26" name="TextBox 25"/>
          <p:cNvSpPr txBox="1"/>
          <p:nvPr/>
        </p:nvSpPr>
        <p:spPr>
          <a:xfrm>
            <a:off x="9367113" y="3474720"/>
            <a:ext cx="1953158" cy="457200"/>
          </a:xfrm>
          <a:prstGeom prst="rect">
            <a:avLst/>
          </a:prstGeom>
          <a:noFill/>
        </p:spPr>
        <p:txBody>
          <a:bodyPr wrap="square" lIns="0" tIns="0" rIns="0" bIns="0" anchor="t">
            <a:spAutoFit/>
          </a:bodyPr>
          <a:lstStyle/>
          <a:p>
            <a:pPr algn="l"/>
            <a:r>
              <a:rPr sz="2400" b="0" i="0">
                <a:solidFill>
                  <a:srgbClr val="D24E25"/>
                </a:solidFill>
                <a:latin typeface="Georgia"/>
              </a:rPr>
              <a:t>Sync</a:t>
            </a:r>
          </a:p>
        </p:txBody>
      </p:sp>
      <p:sp>
        <p:nvSpPr>
          <p:cNvPr id="27" name="TextBox 26"/>
          <p:cNvSpPr txBox="1"/>
          <p:nvPr/>
        </p:nvSpPr>
        <p:spPr>
          <a:xfrm>
            <a:off x="9367113" y="4023360"/>
            <a:ext cx="1861718" cy="1371600"/>
          </a:xfrm>
          <a:prstGeom prst="rect">
            <a:avLst/>
          </a:prstGeom>
          <a:noFill/>
        </p:spPr>
        <p:txBody>
          <a:bodyPr wrap="square" lIns="0" tIns="0" rIns="0" bIns="0" anchor="t">
            <a:spAutoFit/>
          </a:bodyPr>
          <a:lstStyle/>
          <a:p>
            <a:pPr algn="l"/>
            <a:r>
              <a:rPr sz="1400" b="0" i="0">
                <a:solidFill>
                  <a:srgbClr val="6B6760"/>
                </a:solidFill>
                <a:latin typeface="Segoe UI"/>
              </a:rPr>
              <a:t>Rolling update: new pods come up before old ones stop.</a:t>
            </a:r>
          </a:p>
        </p:txBody>
      </p:sp>
      <p:cxnSp>
        <p:nvCxnSpPr>
          <p:cNvPr id="28" name="Connector 27"/>
          <p:cNvCxnSpPr/>
          <p:nvPr/>
        </p:nvCxnSpPr>
        <p:spPr>
          <a:xfrm>
            <a:off x="640080" y="2240280"/>
            <a:ext cx="6270955" cy="0"/>
          </a:xfrm>
          <a:prstGeom prst="line">
            <a:avLst/>
          </a:prstGeom>
          <a:ln w="15875">
            <a:solidFill>
              <a:srgbClr val="171717"/>
            </a:solidFill>
          </a:ln>
        </p:spPr>
      </p:cxnSp>
      <p:cxnSp>
        <p:nvCxnSpPr>
          <p:cNvPr id="29" name="Connector 28"/>
          <p:cNvCxnSpPr/>
          <p:nvPr/>
        </p:nvCxnSpPr>
        <p:spPr>
          <a:xfrm>
            <a:off x="640080" y="2240280"/>
            <a:ext cx="0" cy="137160"/>
          </a:xfrm>
          <a:prstGeom prst="line">
            <a:avLst/>
          </a:prstGeom>
          <a:ln w="15875">
            <a:solidFill>
              <a:srgbClr val="171717"/>
            </a:solidFill>
          </a:ln>
        </p:spPr>
      </p:cxnSp>
      <p:cxnSp>
        <p:nvCxnSpPr>
          <p:cNvPr id="30" name="Connector 29"/>
          <p:cNvCxnSpPr/>
          <p:nvPr/>
        </p:nvCxnSpPr>
        <p:spPr>
          <a:xfrm>
            <a:off x="6911035" y="2240280"/>
            <a:ext cx="0" cy="137160"/>
          </a:xfrm>
          <a:prstGeom prst="line">
            <a:avLst/>
          </a:prstGeom>
          <a:ln w="15875">
            <a:solidFill>
              <a:srgbClr val="171717"/>
            </a:solidFill>
          </a:ln>
        </p:spPr>
      </p:cxnSp>
      <p:sp>
        <p:nvSpPr>
          <p:cNvPr id="31" name="TextBox 30"/>
          <p:cNvSpPr txBox="1"/>
          <p:nvPr/>
        </p:nvSpPr>
        <p:spPr>
          <a:xfrm>
            <a:off x="640080" y="1892808"/>
            <a:ext cx="6270955" cy="274320"/>
          </a:xfrm>
          <a:prstGeom prst="rect">
            <a:avLst/>
          </a:prstGeom>
          <a:noFill/>
        </p:spPr>
        <p:txBody>
          <a:bodyPr wrap="square" lIns="0" tIns="0" rIns="0" bIns="0" anchor="t">
            <a:spAutoFit/>
          </a:bodyPr>
          <a:lstStyle/>
          <a:p>
            <a:pPr algn="l"/>
            <a:r>
              <a:rPr sz="1200" b="0" i="0">
                <a:solidFill>
                  <a:srgbClr val="171717"/>
                </a:solidFill>
                <a:latin typeface="Consolas"/>
              </a:rPr>
              <a:t>CI  /  push  /  outside the cluster</a:t>
            </a:r>
          </a:p>
        </p:txBody>
      </p:sp>
      <p:cxnSp>
        <p:nvCxnSpPr>
          <p:cNvPr id="32" name="Connector 31"/>
          <p:cNvCxnSpPr/>
          <p:nvPr/>
        </p:nvCxnSpPr>
        <p:spPr>
          <a:xfrm>
            <a:off x="7185355" y="2240280"/>
            <a:ext cx="4363517" cy="0"/>
          </a:xfrm>
          <a:prstGeom prst="line">
            <a:avLst/>
          </a:prstGeom>
          <a:ln w="15875">
            <a:solidFill>
              <a:srgbClr val="D24E25"/>
            </a:solidFill>
          </a:ln>
        </p:spPr>
      </p:cxnSp>
      <p:cxnSp>
        <p:nvCxnSpPr>
          <p:cNvPr id="33" name="Connector 32"/>
          <p:cNvCxnSpPr/>
          <p:nvPr/>
        </p:nvCxnSpPr>
        <p:spPr>
          <a:xfrm>
            <a:off x="7185355" y="2240280"/>
            <a:ext cx="0" cy="137160"/>
          </a:xfrm>
          <a:prstGeom prst="line">
            <a:avLst/>
          </a:prstGeom>
          <a:ln w="15875">
            <a:solidFill>
              <a:srgbClr val="D24E25"/>
            </a:solidFill>
          </a:ln>
        </p:spPr>
      </p:cxnSp>
      <p:cxnSp>
        <p:nvCxnSpPr>
          <p:cNvPr id="34" name="Connector 33"/>
          <p:cNvCxnSpPr/>
          <p:nvPr/>
        </p:nvCxnSpPr>
        <p:spPr>
          <a:xfrm>
            <a:off x="11548872" y="2240280"/>
            <a:ext cx="0" cy="137160"/>
          </a:xfrm>
          <a:prstGeom prst="line">
            <a:avLst/>
          </a:prstGeom>
          <a:ln w="15875">
            <a:solidFill>
              <a:srgbClr val="D24E25"/>
            </a:solidFill>
          </a:ln>
        </p:spPr>
      </p:cxnSp>
      <p:sp>
        <p:nvSpPr>
          <p:cNvPr id="35" name="TextBox 34"/>
          <p:cNvSpPr txBox="1"/>
          <p:nvPr/>
        </p:nvSpPr>
        <p:spPr>
          <a:xfrm>
            <a:off x="7185355" y="1892808"/>
            <a:ext cx="4363516" cy="274320"/>
          </a:xfrm>
          <a:prstGeom prst="rect">
            <a:avLst/>
          </a:prstGeom>
          <a:noFill/>
        </p:spPr>
        <p:txBody>
          <a:bodyPr wrap="square" lIns="0" tIns="0" rIns="0" bIns="0" anchor="t">
            <a:spAutoFit/>
          </a:bodyPr>
          <a:lstStyle/>
          <a:p>
            <a:pPr algn="l"/>
            <a:r>
              <a:rPr sz="1200" b="0" i="0">
                <a:solidFill>
                  <a:srgbClr val="D24E25"/>
                </a:solidFill>
                <a:latin typeface="Consolas"/>
              </a:rPr>
              <a:t>CD  /  pull  /  inside</a:t>
            </a:r>
          </a:p>
        </p:txBody>
      </p:sp>
      <p:sp>
        <p:nvSpPr>
          <p:cNvPr id="36" name="TextBox 35"/>
          <p:cNvSpPr txBox="1"/>
          <p:nvPr/>
        </p:nvSpPr>
        <p:spPr>
          <a:xfrm>
            <a:off x="640080" y="5577840"/>
            <a:ext cx="10881360" cy="365760"/>
          </a:xfrm>
          <a:prstGeom prst="rect">
            <a:avLst/>
          </a:prstGeom>
          <a:noFill/>
        </p:spPr>
        <p:txBody>
          <a:bodyPr wrap="square" lIns="0" tIns="0" rIns="0" bIns="0" anchor="t">
            <a:spAutoFit/>
          </a:bodyPr>
          <a:lstStyle/>
          <a:p>
            <a:pPr algn="l"/>
            <a:r>
              <a:rPr sz="1200" b="0" i="0">
                <a:solidFill>
                  <a:srgbClr val="6B6760"/>
                </a:solidFill>
                <a:latin typeface="Consolas"/>
              </a:rPr>
              <a:t>maxUnavailable: 0, maxSurge: 1  keeps 3 pods serving during the rollout.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07   Implementation</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Every cloud piece, replaced by a local one</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07 / 12</a:t>
            </a:r>
          </a:p>
        </p:txBody>
      </p:sp>
      <p:cxnSp>
        <p:nvCxnSpPr>
          <p:cNvPr id="7" name="Connector 6"/>
          <p:cNvCxnSpPr/>
          <p:nvPr/>
        </p:nvCxnSpPr>
        <p:spPr>
          <a:xfrm>
            <a:off x="640080" y="1737360"/>
            <a:ext cx="10908792" cy="0"/>
          </a:xfrm>
          <a:prstGeom prst="line">
            <a:avLst/>
          </a:prstGeom>
          <a:ln w="12700">
            <a:solidFill>
              <a:srgbClr val="171717"/>
            </a:solidFill>
          </a:ln>
        </p:spPr>
      </p:cxnSp>
      <p:sp>
        <p:nvSpPr>
          <p:cNvPr id="8" name="TextBox 7"/>
          <p:cNvSpPr txBox="1"/>
          <p:nvPr/>
        </p:nvSpPr>
        <p:spPr>
          <a:xfrm>
            <a:off x="731519" y="1737360"/>
            <a:ext cx="2743200" cy="502920"/>
          </a:xfrm>
          <a:prstGeom prst="rect">
            <a:avLst/>
          </a:prstGeom>
          <a:noFill/>
        </p:spPr>
        <p:txBody>
          <a:bodyPr wrap="square" lIns="0" tIns="0" rIns="0" bIns="0" anchor="ctr">
            <a:spAutoFit/>
          </a:bodyPr>
          <a:lstStyle/>
          <a:p>
            <a:pPr algn="l"/>
            <a:r>
              <a:rPr sz="1000" b="0" i="0">
                <a:solidFill>
                  <a:srgbClr val="6B6760"/>
                </a:solidFill>
                <a:latin typeface="Consolas"/>
              </a:rPr>
              <a:t>ROLE</a:t>
            </a:r>
          </a:p>
        </p:txBody>
      </p:sp>
      <p:sp>
        <p:nvSpPr>
          <p:cNvPr id="9" name="TextBox 8"/>
          <p:cNvSpPr txBox="1"/>
          <p:nvPr/>
        </p:nvSpPr>
        <p:spPr>
          <a:xfrm>
            <a:off x="3657600" y="1737360"/>
            <a:ext cx="3108960" cy="502920"/>
          </a:xfrm>
          <a:prstGeom prst="rect">
            <a:avLst/>
          </a:prstGeom>
          <a:noFill/>
        </p:spPr>
        <p:txBody>
          <a:bodyPr wrap="square" lIns="0" tIns="0" rIns="0" bIns="0" anchor="ctr">
            <a:spAutoFit/>
          </a:bodyPr>
          <a:lstStyle/>
          <a:p>
            <a:pPr algn="l"/>
            <a:r>
              <a:rPr sz="1000" b="0" i="0">
                <a:solidFill>
                  <a:srgbClr val="6B6760"/>
                </a:solidFill>
                <a:latin typeface="Consolas"/>
              </a:rPr>
              <a:t>USUALLY</a:t>
            </a:r>
          </a:p>
        </p:txBody>
      </p:sp>
      <p:sp>
        <p:nvSpPr>
          <p:cNvPr id="10" name="TextBox 9"/>
          <p:cNvSpPr txBox="1"/>
          <p:nvPr/>
        </p:nvSpPr>
        <p:spPr>
          <a:xfrm>
            <a:off x="6949440" y="1737360"/>
            <a:ext cx="4507992" cy="502920"/>
          </a:xfrm>
          <a:prstGeom prst="rect">
            <a:avLst/>
          </a:prstGeom>
          <a:noFill/>
        </p:spPr>
        <p:txBody>
          <a:bodyPr wrap="square" lIns="0" tIns="0" rIns="0" bIns="0" anchor="ctr">
            <a:spAutoFit/>
          </a:bodyPr>
          <a:lstStyle/>
          <a:p>
            <a:pPr algn="l"/>
            <a:r>
              <a:rPr sz="1000" b="0" i="0">
                <a:solidFill>
                  <a:srgbClr val="6B6760"/>
                </a:solidFill>
                <a:latin typeface="Consolas"/>
              </a:rPr>
              <a:t>IN OUR PROJECT</a:t>
            </a:r>
          </a:p>
        </p:txBody>
      </p:sp>
      <p:cxnSp>
        <p:nvCxnSpPr>
          <p:cNvPr id="11" name="Connector 10"/>
          <p:cNvCxnSpPr/>
          <p:nvPr/>
        </p:nvCxnSpPr>
        <p:spPr>
          <a:xfrm>
            <a:off x="640080" y="2240280"/>
            <a:ext cx="10908792" cy="0"/>
          </a:xfrm>
          <a:prstGeom prst="line">
            <a:avLst/>
          </a:prstGeom>
          <a:ln w="12700">
            <a:solidFill>
              <a:srgbClr val="171717"/>
            </a:solidFill>
          </a:ln>
        </p:spPr>
      </p:cxnSp>
      <p:sp>
        <p:nvSpPr>
          <p:cNvPr id="12" name="TextBox 11"/>
          <p:cNvSpPr txBox="1"/>
          <p:nvPr/>
        </p:nvSpPr>
        <p:spPr>
          <a:xfrm>
            <a:off x="731519" y="2240280"/>
            <a:ext cx="2743200" cy="502920"/>
          </a:xfrm>
          <a:prstGeom prst="rect">
            <a:avLst/>
          </a:prstGeom>
          <a:noFill/>
        </p:spPr>
        <p:txBody>
          <a:bodyPr wrap="square" lIns="0" tIns="0" rIns="0" bIns="0" anchor="ctr">
            <a:spAutoFit/>
          </a:bodyPr>
          <a:lstStyle/>
          <a:p>
            <a:pPr algn="l"/>
            <a:r>
              <a:rPr sz="1500" b="0" i="0">
                <a:solidFill>
                  <a:srgbClr val="6B6760"/>
                </a:solidFill>
                <a:latin typeface="Segoe UI"/>
              </a:rPr>
              <a:t>Git hosting</a:t>
            </a:r>
          </a:p>
        </p:txBody>
      </p:sp>
      <p:sp>
        <p:nvSpPr>
          <p:cNvPr id="13" name="TextBox 12"/>
          <p:cNvSpPr txBox="1"/>
          <p:nvPr/>
        </p:nvSpPr>
        <p:spPr>
          <a:xfrm>
            <a:off x="3657600" y="2240280"/>
            <a:ext cx="3108960" cy="502920"/>
          </a:xfrm>
          <a:prstGeom prst="rect">
            <a:avLst/>
          </a:prstGeom>
          <a:noFill/>
        </p:spPr>
        <p:txBody>
          <a:bodyPr wrap="square" lIns="0" tIns="0" rIns="0" bIns="0" anchor="ctr">
            <a:spAutoFit/>
          </a:bodyPr>
          <a:lstStyle/>
          <a:p>
            <a:pPr algn="l"/>
            <a:r>
              <a:rPr sz="1500" b="0" i="0">
                <a:solidFill>
                  <a:srgbClr val="6B6760"/>
                </a:solidFill>
                <a:latin typeface="Segoe UI"/>
              </a:rPr>
              <a:t>GitHub</a:t>
            </a:r>
          </a:p>
        </p:txBody>
      </p:sp>
      <p:sp>
        <p:nvSpPr>
          <p:cNvPr id="14" name="TextBox 13"/>
          <p:cNvSpPr txBox="1"/>
          <p:nvPr/>
        </p:nvSpPr>
        <p:spPr>
          <a:xfrm>
            <a:off x="6949440" y="2240280"/>
            <a:ext cx="4507992" cy="502920"/>
          </a:xfrm>
          <a:prstGeom prst="rect">
            <a:avLst/>
          </a:prstGeom>
          <a:noFill/>
        </p:spPr>
        <p:txBody>
          <a:bodyPr wrap="square" lIns="0" tIns="0" rIns="0" bIns="0" anchor="ctr">
            <a:spAutoFit/>
          </a:bodyPr>
          <a:lstStyle/>
          <a:p>
            <a:pPr algn="l"/>
            <a:r>
              <a:rPr sz="1500" b="1" i="0">
                <a:solidFill>
                  <a:srgbClr val="171717"/>
                </a:solidFill>
                <a:latin typeface="Segoe UI"/>
              </a:rPr>
              <a:t>Gitea, self-hosted</a:t>
            </a:r>
          </a:p>
        </p:txBody>
      </p:sp>
      <p:cxnSp>
        <p:nvCxnSpPr>
          <p:cNvPr id="15" name="Connector 14"/>
          <p:cNvCxnSpPr/>
          <p:nvPr/>
        </p:nvCxnSpPr>
        <p:spPr>
          <a:xfrm>
            <a:off x="640080" y="2743200"/>
            <a:ext cx="10908792" cy="0"/>
          </a:xfrm>
          <a:prstGeom prst="line">
            <a:avLst/>
          </a:prstGeom>
          <a:ln w="9525">
            <a:solidFill>
              <a:srgbClr val="CFC9BC"/>
            </a:solidFill>
          </a:ln>
        </p:spPr>
      </p:cxnSp>
      <p:sp>
        <p:nvSpPr>
          <p:cNvPr id="16" name="TextBox 15"/>
          <p:cNvSpPr txBox="1"/>
          <p:nvPr/>
        </p:nvSpPr>
        <p:spPr>
          <a:xfrm>
            <a:off x="731519" y="2743200"/>
            <a:ext cx="2743200" cy="502920"/>
          </a:xfrm>
          <a:prstGeom prst="rect">
            <a:avLst/>
          </a:prstGeom>
          <a:noFill/>
        </p:spPr>
        <p:txBody>
          <a:bodyPr wrap="square" lIns="0" tIns="0" rIns="0" bIns="0" anchor="ctr">
            <a:spAutoFit/>
          </a:bodyPr>
          <a:lstStyle/>
          <a:p>
            <a:pPr algn="l"/>
            <a:r>
              <a:rPr sz="1500" b="0" i="0">
                <a:solidFill>
                  <a:srgbClr val="6B6760"/>
                </a:solidFill>
                <a:latin typeface="Segoe UI"/>
              </a:rPr>
              <a:t>CI</a:t>
            </a:r>
          </a:p>
        </p:txBody>
      </p:sp>
      <p:sp>
        <p:nvSpPr>
          <p:cNvPr id="17" name="TextBox 16"/>
          <p:cNvSpPr txBox="1"/>
          <p:nvPr/>
        </p:nvSpPr>
        <p:spPr>
          <a:xfrm>
            <a:off x="3657600" y="2743200"/>
            <a:ext cx="3108960" cy="502920"/>
          </a:xfrm>
          <a:prstGeom prst="rect">
            <a:avLst/>
          </a:prstGeom>
          <a:noFill/>
        </p:spPr>
        <p:txBody>
          <a:bodyPr wrap="square" lIns="0" tIns="0" rIns="0" bIns="0" anchor="ctr">
            <a:spAutoFit/>
          </a:bodyPr>
          <a:lstStyle/>
          <a:p>
            <a:pPr algn="l"/>
            <a:r>
              <a:rPr sz="1500" b="0" i="0">
                <a:solidFill>
                  <a:srgbClr val="6B6760"/>
                </a:solidFill>
                <a:latin typeface="Segoe UI"/>
              </a:rPr>
              <a:t>GitHub Actions</a:t>
            </a:r>
          </a:p>
        </p:txBody>
      </p:sp>
      <p:sp>
        <p:nvSpPr>
          <p:cNvPr id="18" name="TextBox 17"/>
          <p:cNvSpPr txBox="1"/>
          <p:nvPr/>
        </p:nvSpPr>
        <p:spPr>
          <a:xfrm>
            <a:off x="6949440" y="2743200"/>
            <a:ext cx="4507992" cy="502920"/>
          </a:xfrm>
          <a:prstGeom prst="rect">
            <a:avLst/>
          </a:prstGeom>
          <a:noFill/>
        </p:spPr>
        <p:txBody>
          <a:bodyPr wrap="square" lIns="0" tIns="0" rIns="0" bIns="0" anchor="ctr">
            <a:spAutoFit/>
          </a:bodyPr>
          <a:lstStyle/>
          <a:p>
            <a:pPr algn="l"/>
            <a:r>
              <a:rPr sz="1500" b="1" i="0">
                <a:solidFill>
                  <a:srgbClr val="171717"/>
                </a:solidFill>
                <a:latin typeface="Segoe UI"/>
              </a:rPr>
              <a:t>ci-pipeline.sh  +  prod.yml</a:t>
            </a:r>
          </a:p>
        </p:txBody>
      </p:sp>
      <p:cxnSp>
        <p:nvCxnSpPr>
          <p:cNvPr id="19" name="Connector 18"/>
          <p:cNvCxnSpPr/>
          <p:nvPr/>
        </p:nvCxnSpPr>
        <p:spPr>
          <a:xfrm>
            <a:off x="640080" y="3246120"/>
            <a:ext cx="10908792" cy="0"/>
          </a:xfrm>
          <a:prstGeom prst="line">
            <a:avLst/>
          </a:prstGeom>
          <a:ln w="9525">
            <a:solidFill>
              <a:srgbClr val="CFC9BC"/>
            </a:solidFill>
          </a:ln>
        </p:spPr>
      </p:cxnSp>
      <p:sp>
        <p:nvSpPr>
          <p:cNvPr id="20" name="TextBox 19"/>
          <p:cNvSpPr txBox="1"/>
          <p:nvPr/>
        </p:nvSpPr>
        <p:spPr>
          <a:xfrm>
            <a:off x="731519" y="3246120"/>
            <a:ext cx="2743200" cy="502920"/>
          </a:xfrm>
          <a:prstGeom prst="rect">
            <a:avLst/>
          </a:prstGeom>
          <a:noFill/>
        </p:spPr>
        <p:txBody>
          <a:bodyPr wrap="square" lIns="0" tIns="0" rIns="0" bIns="0" anchor="ctr">
            <a:spAutoFit/>
          </a:bodyPr>
          <a:lstStyle/>
          <a:p>
            <a:pPr algn="l"/>
            <a:r>
              <a:rPr sz="1500" b="0" i="0">
                <a:solidFill>
                  <a:srgbClr val="6B6760"/>
                </a:solidFill>
                <a:latin typeface="Segoe UI"/>
              </a:rPr>
              <a:t>Image registry</a:t>
            </a:r>
          </a:p>
        </p:txBody>
      </p:sp>
      <p:sp>
        <p:nvSpPr>
          <p:cNvPr id="21" name="TextBox 20"/>
          <p:cNvSpPr txBox="1"/>
          <p:nvPr/>
        </p:nvSpPr>
        <p:spPr>
          <a:xfrm>
            <a:off x="3657600" y="3246120"/>
            <a:ext cx="3108960" cy="502920"/>
          </a:xfrm>
          <a:prstGeom prst="rect">
            <a:avLst/>
          </a:prstGeom>
          <a:noFill/>
        </p:spPr>
        <p:txBody>
          <a:bodyPr wrap="square" lIns="0" tIns="0" rIns="0" bIns="0" anchor="ctr">
            <a:spAutoFit/>
          </a:bodyPr>
          <a:lstStyle/>
          <a:p>
            <a:pPr algn="l"/>
            <a:r>
              <a:rPr sz="1500" b="0" i="0">
                <a:solidFill>
                  <a:srgbClr val="6B6760"/>
                </a:solidFill>
                <a:latin typeface="Segoe UI"/>
              </a:rPr>
              <a:t>Docker Hub</a:t>
            </a:r>
          </a:p>
        </p:txBody>
      </p:sp>
      <p:sp>
        <p:nvSpPr>
          <p:cNvPr id="22" name="TextBox 21"/>
          <p:cNvSpPr txBox="1"/>
          <p:nvPr/>
        </p:nvSpPr>
        <p:spPr>
          <a:xfrm>
            <a:off x="6949440" y="3246120"/>
            <a:ext cx="4507992" cy="502920"/>
          </a:xfrm>
          <a:prstGeom prst="rect">
            <a:avLst/>
          </a:prstGeom>
          <a:noFill/>
        </p:spPr>
        <p:txBody>
          <a:bodyPr wrap="square" lIns="0" tIns="0" rIns="0" bIns="0" anchor="ctr">
            <a:spAutoFit/>
          </a:bodyPr>
          <a:lstStyle/>
          <a:p>
            <a:pPr algn="l"/>
            <a:r>
              <a:rPr sz="1500" b="1" i="0">
                <a:solidFill>
                  <a:srgbClr val="171717"/>
                </a:solidFill>
                <a:latin typeface="Segoe UI"/>
              </a:rPr>
              <a:t>registry:2 on localhost:5001</a:t>
            </a:r>
          </a:p>
        </p:txBody>
      </p:sp>
      <p:cxnSp>
        <p:nvCxnSpPr>
          <p:cNvPr id="23" name="Connector 22"/>
          <p:cNvCxnSpPr/>
          <p:nvPr/>
        </p:nvCxnSpPr>
        <p:spPr>
          <a:xfrm>
            <a:off x="640080" y="3749039"/>
            <a:ext cx="10908792" cy="0"/>
          </a:xfrm>
          <a:prstGeom prst="line">
            <a:avLst/>
          </a:prstGeom>
          <a:ln w="9525">
            <a:solidFill>
              <a:srgbClr val="CFC9BC"/>
            </a:solidFill>
          </a:ln>
        </p:spPr>
      </p:cxnSp>
      <p:sp>
        <p:nvSpPr>
          <p:cNvPr id="24" name="TextBox 23"/>
          <p:cNvSpPr txBox="1"/>
          <p:nvPr/>
        </p:nvSpPr>
        <p:spPr>
          <a:xfrm>
            <a:off x="731519" y="3749039"/>
            <a:ext cx="2743200" cy="502920"/>
          </a:xfrm>
          <a:prstGeom prst="rect">
            <a:avLst/>
          </a:prstGeom>
          <a:noFill/>
        </p:spPr>
        <p:txBody>
          <a:bodyPr wrap="square" lIns="0" tIns="0" rIns="0" bIns="0" anchor="ctr">
            <a:spAutoFit/>
          </a:bodyPr>
          <a:lstStyle/>
          <a:p>
            <a:pPr algn="l"/>
            <a:r>
              <a:rPr sz="1500" b="0" i="0">
                <a:solidFill>
                  <a:srgbClr val="6B6760"/>
                </a:solidFill>
                <a:latin typeface="Segoe UI"/>
              </a:rPr>
              <a:t>Kubernetes</a:t>
            </a:r>
          </a:p>
        </p:txBody>
      </p:sp>
      <p:sp>
        <p:nvSpPr>
          <p:cNvPr id="25" name="TextBox 24"/>
          <p:cNvSpPr txBox="1"/>
          <p:nvPr/>
        </p:nvSpPr>
        <p:spPr>
          <a:xfrm>
            <a:off x="3657600" y="3749039"/>
            <a:ext cx="3108960" cy="502920"/>
          </a:xfrm>
          <a:prstGeom prst="rect">
            <a:avLst/>
          </a:prstGeom>
          <a:noFill/>
        </p:spPr>
        <p:txBody>
          <a:bodyPr wrap="square" lIns="0" tIns="0" rIns="0" bIns="0" anchor="ctr">
            <a:spAutoFit/>
          </a:bodyPr>
          <a:lstStyle/>
          <a:p>
            <a:pPr algn="l"/>
            <a:r>
              <a:rPr sz="1500" b="0" i="0">
                <a:solidFill>
                  <a:srgbClr val="6B6760"/>
                </a:solidFill>
                <a:latin typeface="Segoe UI"/>
              </a:rPr>
              <a:t>DigitalOcean</a:t>
            </a:r>
          </a:p>
        </p:txBody>
      </p:sp>
      <p:sp>
        <p:nvSpPr>
          <p:cNvPr id="26" name="TextBox 25"/>
          <p:cNvSpPr txBox="1"/>
          <p:nvPr/>
        </p:nvSpPr>
        <p:spPr>
          <a:xfrm>
            <a:off x="6949440" y="3749039"/>
            <a:ext cx="4507992" cy="502920"/>
          </a:xfrm>
          <a:prstGeom prst="rect">
            <a:avLst/>
          </a:prstGeom>
          <a:noFill/>
        </p:spPr>
        <p:txBody>
          <a:bodyPr wrap="square" lIns="0" tIns="0" rIns="0" bIns="0" anchor="ctr">
            <a:spAutoFit/>
          </a:bodyPr>
          <a:lstStyle/>
          <a:p>
            <a:pPr algn="l"/>
            <a:r>
              <a:rPr sz="1500" b="1" i="0">
                <a:solidFill>
                  <a:srgbClr val="171717"/>
                </a:solidFill>
                <a:latin typeface="Segoe UI"/>
              </a:rPr>
              <a:t>kind: 1 control plane, 2 workers</a:t>
            </a:r>
          </a:p>
        </p:txBody>
      </p:sp>
      <p:cxnSp>
        <p:nvCxnSpPr>
          <p:cNvPr id="27" name="Connector 26"/>
          <p:cNvCxnSpPr/>
          <p:nvPr/>
        </p:nvCxnSpPr>
        <p:spPr>
          <a:xfrm>
            <a:off x="640080" y="4251960"/>
            <a:ext cx="10908792" cy="0"/>
          </a:xfrm>
          <a:prstGeom prst="line">
            <a:avLst/>
          </a:prstGeom>
          <a:ln w="9525">
            <a:solidFill>
              <a:srgbClr val="CFC9BC"/>
            </a:solidFill>
          </a:ln>
        </p:spPr>
      </p:cxnSp>
      <p:sp>
        <p:nvSpPr>
          <p:cNvPr id="28" name="TextBox 27"/>
          <p:cNvSpPr txBox="1"/>
          <p:nvPr/>
        </p:nvSpPr>
        <p:spPr>
          <a:xfrm>
            <a:off x="731519" y="4251960"/>
            <a:ext cx="2743200" cy="502920"/>
          </a:xfrm>
          <a:prstGeom prst="rect">
            <a:avLst/>
          </a:prstGeom>
          <a:noFill/>
        </p:spPr>
        <p:txBody>
          <a:bodyPr wrap="square" lIns="0" tIns="0" rIns="0" bIns="0" anchor="ctr">
            <a:spAutoFit/>
          </a:bodyPr>
          <a:lstStyle/>
          <a:p>
            <a:pPr algn="l"/>
            <a:r>
              <a:rPr sz="1500" b="0" i="0">
                <a:solidFill>
                  <a:srgbClr val="6B6760"/>
                </a:solidFill>
                <a:latin typeface="Segoe UI"/>
              </a:rPr>
              <a:t>GitOps controller</a:t>
            </a:r>
          </a:p>
        </p:txBody>
      </p:sp>
      <p:sp>
        <p:nvSpPr>
          <p:cNvPr id="29" name="TextBox 28"/>
          <p:cNvSpPr txBox="1"/>
          <p:nvPr/>
        </p:nvSpPr>
        <p:spPr>
          <a:xfrm>
            <a:off x="3657600" y="4251960"/>
            <a:ext cx="3108960" cy="502920"/>
          </a:xfrm>
          <a:prstGeom prst="rect">
            <a:avLst/>
          </a:prstGeom>
          <a:noFill/>
        </p:spPr>
        <p:txBody>
          <a:bodyPr wrap="square" lIns="0" tIns="0" rIns="0" bIns="0" anchor="ctr">
            <a:spAutoFit/>
          </a:bodyPr>
          <a:lstStyle/>
          <a:p>
            <a:pPr algn="l"/>
            <a:r>
              <a:rPr sz="1500" b="0" i="0">
                <a:solidFill>
                  <a:srgbClr val="6B6760"/>
                </a:solidFill>
                <a:latin typeface="Segoe UI"/>
              </a:rPr>
              <a:t>ArgoCD</a:t>
            </a:r>
          </a:p>
        </p:txBody>
      </p:sp>
      <p:sp>
        <p:nvSpPr>
          <p:cNvPr id="30" name="TextBox 29"/>
          <p:cNvSpPr txBox="1"/>
          <p:nvPr/>
        </p:nvSpPr>
        <p:spPr>
          <a:xfrm>
            <a:off x="6949440" y="4251960"/>
            <a:ext cx="4507992" cy="502920"/>
          </a:xfrm>
          <a:prstGeom prst="rect">
            <a:avLst/>
          </a:prstGeom>
          <a:noFill/>
        </p:spPr>
        <p:txBody>
          <a:bodyPr wrap="square" lIns="0" tIns="0" rIns="0" bIns="0" anchor="ctr">
            <a:spAutoFit/>
          </a:bodyPr>
          <a:lstStyle/>
          <a:p>
            <a:pPr algn="l"/>
            <a:r>
              <a:rPr sz="1500" b="1" i="0">
                <a:solidFill>
                  <a:srgbClr val="171717"/>
                </a:solidFill>
                <a:latin typeface="Segoe UI"/>
              </a:rPr>
              <a:t>ArgoCD v3.5.3</a:t>
            </a:r>
          </a:p>
        </p:txBody>
      </p:sp>
      <p:cxnSp>
        <p:nvCxnSpPr>
          <p:cNvPr id="31" name="Connector 30"/>
          <p:cNvCxnSpPr/>
          <p:nvPr/>
        </p:nvCxnSpPr>
        <p:spPr>
          <a:xfrm>
            <a:off x="640080" y="4754880"/>
            <a:ext cx="10908792" cy="0"/>
          </a:xfrm>
          <a:prstGeom prst="line">
            <a:avLst/>
          </a:prstGeom>
          <a:ln w="9525">
            <a:solidFill>
              <a:srgbClr val="CFC9BC"/>
            </a:solidFill>
          </a:ln>
        </p:spPr>
      </p:cxnSp>
      <p:sp>
        <p:nvSpPr>
          <p:cNvPr id="32" name="TextBox 31"/>
          <p:cNvSpPr txBox="1"/>
          <p:nvPr/>
        </p:nvSpPr>
        <p:spPr>
          <a:xfrm>
            <a:off x="731519" y="4754880"/>
            <a:ext cx="2743200" cy="502920"/>
          </a:xfrm>
          <a:prstGeom prst="rect">
            <a:avLst/>
          </a:prstGeom>
          <a:noFill/>
        </p:spPr>
        <p:txBody>
          <a:bodyPr wrap="square" lIns="0" tIns="0" rIns="0" bIns="0" anchor="ctr">
            <a:spAutoFit/>
          </a:bodyPr>
          <a:lstStyle/>
          <a:p>
            <a:pPr algn="l"/>
            <a:r>
              <a:rPr sz="1500" b="0" i="0">
                <a:solidFill>
                  <a:srgbClr val="6B6760"/>
                </a:solidFill>
                <a:latin typeface="Segoe UI"/>
              </a:rPr>
              <a:t>Application</a:t>
            </a:r>
          </a:p>
        </p:txBody>
      </p:sp>
      <p:sp>
        <p:nvSpPr>
          <p:cNvPr id="33" name="TextBox 32"/>
          <p:cNvSpPr txBox="1"/>
          <p:nvPr/>
        </p:nvSpPr>
        <p:spPr>
          <a:xfrm>
            <a:off x="3657600" y="4754880"/>
            <a:ext cx="3108960" cy="502920"/>
          </a:xfrm>
          <a:prstGeom prst="rect">
            <a:avLst/>
          </a:prstGeom>
          <a:noFill/>
        </p:spPr>
        <p:txBody>
          <a:bodyPr wrap="square" lIns="0" tIns="0" rIns="0" bIns="0" anchor="ctr">
            <a:spAutoFit/>
          </a:bodyPr>
          <a:lstStyle/>
          <a:p>
            <a:pPr algn="l"/>
            <a:r>
              <a:rPr sz="1500" b="0" i="0">
                <a:solidFill>
                  <a:srgbClr val="6B6760"/>
                </a:solidFill>
                <a:latin typeface="Segoe UI"/>
              </a:rPr>
              <a:t>Any service</a:t>
            </a:r>
          </a:p>
        </p:txBody>
      </p:sp>
      <p:sp>
        <p:nvSpPr>
          <p:cNvPr id="34" name="TextBox 33"/>
          <p:cNvSpPr txBox="1"/>
          <p:nvPr/>
        </p:nvSpPr>
        <p:spPr>
          <a:xfrm>
            <a:off x="6949440" y="4754880"/>
            <a:ext cx="4507992" cy="502920"/>
          </a:xfrm>
          <a:prstGeom prst="rect">
            <a:avLst/>
          </a:prstGeom>
          <a:noFill/>
        </p:spPr>
        <p:txBody>
          <a:bodyPr wrap="square" lIns="0" tIns="0" rIns="0" bIns="0" anchor="ctr">
            <a:spAutoFit/>
          </a:bodyPr>
          <a:lstStyle/>
          <a:p>
            <a:pPr algn="l"/>
            <a:r>
              <a:rPr sz="1500" b="1" i="0">
                <a:solidFill>
                  <a:srgbClr val="171717"/>
                </a:solidFill>
                <a:latin typeface="Segoe UI"/>
              </a:rPr>
              <a:t>Node.js todo app, 3 replicas</a:t>
            </a:r>
          </a:p>
        </p:txBody>
      </p:sp>
      <p:cxnSp>
        <p:nvCxnSpPr>
          <p:cNvPr id="35" name="Connector 34"/>
          <p:cNvCxnSpPr/>
          <p:nvPr/>
        </p:nvCxnSpPr>
        <p:spPr>
          <a:xfrm>
            <a:off x="640080" y="5257800"/>
            <a:ext cx="10908792" cy="0"/>
          </a:xfrm>
          <a:prstGeom prst="line">
            <a:avLst/>
          </a:prstGeom>
          <a:ln w="12700">
            <a:solidFill>
              <a:srgbClr val="171717"/>
            </a:solidFill>
          </a:ln>
        </p:spPr>
      </p:cxnSp>
      <p:sp>
        <p:nvSpPr>
          <p:cNvPr id="36" name="Rectangle 35"/>
          <p:cNvSpPr/>
          <p:nvPr/>
        </p:nvSpPr>
        <p:spPr>
          <a:xfrm>
            <a:off x="640080" y="5532120"/>
            <a:ext cx="10908792" cy="566928"/>
          </a:xfrm>
          <a:prstGeom prst="rect">
            <a:avLst/>
          </a:prstGeom>
          <a:solidFill>
            <a:srgbClr val="171717"/>
          </a:solidFill>
          <a:ln>
            <a:noFill/>
          </a:ln>
          <a:effectLst/>
        </p:spPr>
        <p:txBody>
          <a:bodyPr rtlCol="0" anchor="ctr"/>
          <a:lstStyle/>
          <a:p>
            <a:pPr algn="ctr"/>
            <a:endParaRPr/>
          </a:p>
        </p:txBody>
      </p:sp>
      <p:sp>
        <p:nvSpPr>
          <p:cNvPr id="37" name="TextBox 36"/>
          <p:cNvSpPr txBox="1"/>
          <p:nvPr/>
        </p:nvSpPr>
        <p:spPr>
          <a:xfrm>
            <a:off x="868680" y="5532120"/>
            <a:ext cx="3657600" cy="566928"/>
          </a:xfrm>
          <a:prstGeom prst="rect">
            <a:avLst/>
          </a:prstGeom>
          <a:noFill/>
        </p:spPr>
        <p:txBody>
          <a:bodyPr wrap="square" lIns="0" tIns="0" rIns="0" bIns="0" anchor="ctr">
            <a:spAutoFit/>
          </a:bodyPr>
          <a:lstStyle/>
          <a:p>
            <a:pPr algn="l"/>
            <a:r>
              <a:rPr sz="1600" b="0" i="0">
                <a:solidFill>
                  <a:srgbClr val="EEEAE0"/>
                </a:solidFill>
                <a:latin typeface="Consolas"/>
              </a:rPr>
              <a:t>&gt; .\gitops setup</a:t>
            </a:r>
          </a:p>
        </p:txBody>
      </p:sp>
      <p:sp>
        <p:nvSpPr>
          <p:cNvPr id="38" name="TextBox 37"/>
          <p:cNvSpPr txBox="1"/>
          <p:nvPr/>
        </p:nvSpPr>
        <p:spPr>
          <a:xfrm>
            <a:off x="4023360" y="5532120"/>
            <a:ext cx="7315200" cy="566928"/>
          </a:xfrm>
          <a:prstGeom prst="rect">
            <a:avLst/>
          </a:prstGeom>
          <a:noFill/>
        </p:spPr>
        <p:txBody>
          <a:bodyPr wrap="square" lIns="0" tIns="0" rIns="0" bIns="0" anchor="ctr">
            <a:spAutoFit/>
          </a:bodyPr>
          <a:lstStyle/>
          <a:p>
            <a:pPr algn="l"/>
            <a:r>
              <a:rPr sz="1300" b="0" i="0">
                <a:solidFill>
                  <a:srgbClr val="9A968E"/>
                </a:solidFill>
                <a:latin typeface="Segoe UI"/>
              </a:rPr>
              <a:t>builds all of it in about 5 minutes, then runs with no internet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08   Configuration</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Two files do most of the work</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08 / 12</a:t>
            </a:r>
          </a:p>
        </p:txBody>
      </p:sp>
      <p:sp>
        <p:nvSpPr>
          <p:cNvPr id="7" name="TextBox 6"/>
          <p:cNvSpPr txBox="1"/>
          <p:nvPr/>
        </p:nvSpPr>
        <p:spPr>
          <a:xfrm>
            <a:off x="640080" y="1737360"/>
            <a:ext cx="5257800" cy="274320"/>
          </a:xfrm>
          <a:prstGeom prst="rect">
            <a:avLst/>
          </a:prstGeom>
          <a:noFill/>
        </p:spPr>
        <p:txBody>
          <a:bodyPr wrap="square" lIns="0" tIns="0" rIns="0" bIns="0" anchor="t">
            <a:spAutoFit/>
          </a:bodyPr>
          <a:lstStyle/>
          <a:p>
            <a:pPr algn="l"/>
            <a:r>
              <a:rPr sz="1100" b="0" i="0">
                <a:solidFill>
                  <a:srgbClr val="6B6760"/>
                </a:solidFill>
                <a:latin typeface="Consolas"/>
              </a:rPr>
              <a:t>infra/argocd-application.yaml</a:t>
            </a:r>
          </a:p>
        </p:txBody>
      </p:sp>
      <p:sp>
        <p:nvSpPr>
          <p:cNvPr id="8" name="Rectangle 7"/>
          <p:cNvSpPr/>
          <p:nvPr/>
        </p:nvSpPr>
        <p:spPr>
          <a:xfrm>
            <a:off x="640080" y="2057400"/>
            <a:ext cx="5257800" cy="2926080"/>
          </a:xfrm>
          <a:prstGeom prst="rect">
            <a:avLst/>
          </a:prstGeom>
          <a:solidFill>
            <a:srgbClr val="141414"/>
          </a:solidFill>
          <a:ln>
            <a:noFill/>
          </a:ln>
          <a:effectLst/>
        </p:spPr>
        <p:txBody>
          <a:bodyPr rtlCol="0" anchor="ctr"/>
          <a:lstStyle/>
          <a:p>
            <a:pPr algn="ctr"/>
            <a:endParaRPr/>
          </a:p>
        </p:txBody>
      </p:sp>
      <p:sp>
        <p:nvSpPr>
          <p:cNvPr id="9" name="TextBox 8"/>
          <p:cNvSpPr txBox="1"/>
          <p:nvPr/>
        </p:nvSpPr>
        <p:spPr>
          <a:xfrm>
            <a:off x="914400" y="2286000"/>
            <a:ext cx="4800600" cy="2560320"/>
          </a:xfrm>
          <a:prstGeom prst="rect">
            <a:avLst/>
          </a:prstGeom>
          <a:noFill/>
        </p:spPr>
        <p:txBody>
          <a:bodyPr wrap="square" lIns="0" tIns="0" rIns="0" bIns="0" anchor="t">
            <a:spAutoFit/>
          </a:bodyPr>
          <a:lstStyle/>
          <a:p>
            <a:pPr algn="l">
              <a:spcAft>
                <a:spcPts val="100"/>
              </a:spcAft>
            </a:pPr>
            <a:r>
              <a:rPr sz="1300" b="0" i="0">
                <a:solidFill>
                  <a:srgbClr val="EEEAE0"/>
                </a:solidFill>
                <a:latin typeface="Consolas"/>
              </a:rPr>
              <a:t>source:</a:t>
            </a:r>
          </a:p>
          <a:p>
            <a:pPr algn="l">
              <a:spcAft>
                <a:spcPts val="100"/>
              </a:spcAft>
            </a:pPr>
            <a:r>
              <a:rPr sz="1300" b="0" i="0">
                <a:solidFill>
                  <a:srgbClr val="EEEAE0"/>
                </a:solidFill>
                <a:latin typeface="Consolas"/>
              </a:rPr>
              <a:t>  repoURL: http://gitea:3000/gitops/</a:t>
            </a:r>
          </a:p>
          <a:p>
            <a:pPr algn="l">
              <a:spcAft>
                <a:spcPts val="100"/>
              </a:spcAft>
            </a:pPr>
            <a:r>
              <a:rPr sz="1300" b="0" i="0">
                <a:solidFill>
                  <a:srgbClr val="EEEAE0"/>
                </a:solidFill>
                <a:latin typeface="Consolas"/>
              </a:rPr>
              <a:t>           argo-deployment.git</a:t>
            </a:r>
          </a:p>
          <a:p>
            <a:pPr algn="l">
              <a:spcAft>
                <a:spcPts val="100"/>
              </a:spcAft>
            </a:pPr>
            <a:r>
              <a:rPr sz="1300" b="0" i="0">
                <a:solidFill>
                  <a:srgbClr val="EEEAE0"/>
                </a:solidFill>
                <a:latin typeface="Consolas"/>
              </a:rPr>
              <a:t>  targetRevision: main</a:t>
            </a:r>
          </a:p>
          <a:p>
            <a:pPr algn="l">
              <a:spcAft>
                <a:spcPts val="100"/>
              </a:spcAft>
            </a:pPr>
            <a:r>
              <a:rPr sz="1300" b="0" i="0">
                <a:solidFill>
                  <a:srgbClr val="EEEAE0"/>
                </a:solidFill>
                <a:latin typeface="Consolas"/>
              </a:rPr>
              <a:t>destination:</a:t>
            </a:r>
          </a:p>
          <a:p>
            <a:pPr algn="l">
              <a:spcAft>
                <a:spcPts val="100"/>
              </a:spcAft>
            </a:pPr>
            <a:r>
              <a:rPr sz="1300" b="0" i="0">
                <a:solidFill>
                  <a:srgbClr val="EEEAE0"/>
                </a:solidFill>
                <a:latin typeface="Consolas"/>
              </a:rPr>
              <a:t>  server: https://kubernetes.default.svc</a:t>
            </a:r>
          </a:p>
          <a:p>
            <a:pPr algn="l">
              <a:spcAft>
                <a:spcPts val="100"/>
              </a:spcAft>
            </a:pPr>
            <a:r>
              <a:rPr sz="1300" b="0" i="0">
                <a:solidFill>
                  <a:srgbClr val="EEEAE0"/>
                </a:solidFill>
                <a:latin typeface="Consolas"/>
              </a:rPr>
              <a:t>syncPolicy:</a:t>
            </a:r>
          </a:p>
          <a:p>
            <a:pPr algn="l">
              <a:spcAft>
                <a:spcPts val="100"/>
              </a:spcAft>
            </a:pPr>
            <a:r>
              <a:rPr sz="1300" b="0" i="0">
                <a:solidFill>
                  <a:srgbClr val="EEEAE0"/>
                </a:solidFill>
                <a:latin typeface="Consolas"/>
              </a:rPr>
              <a:t>  automated:</a:t>
            </a:r>
          </a:p>
          <a:p>
            <a:pPr algn="l">
              <a:spcAft>
                <a:spcPts val="100"/>
              </a:spcAft>
            </a:pPr>
            <a:r>
              <a:rPr sz="1300" b="1" i="0">
                <a:solidFill>
                  <a:srgbClr val="D24E25"/>
                </a:solidFill>
                <a:latin typeface="Consolas"/>
              </a:rPr>
              <a:t>    prune: true</a:t>
            </a:r>
          </a:p>
          <a:p>
            <a:pPr algn="l">
              <a:spcAft>
                <a:spcPts val="100"/>
              </a:spcAft>
            </a:pPr>
            <a:r>
              <a:rPr sz="1300" b="1" i="0">
                <a:solidFill>
                  <a:srgbClr val="D24E25"/>
                </a:solidFill>
                <a:latin typeface="Consolas"/>
              </a:rPr>
              <a:t>    selfHeal: true</a:t>
            </a:r>
          </a:p>
        </p:txBody>
      </p:sp>
      <p:sp>
        <p:nvSpPr>
          <p:cNvPr id="10" name="TextBox 9"/>
          <p:cNvSpPr txBox="1"/>
          <p:nvPr/>
        </p:nvSpPr>
        <p:spPr>
          <a:xfrm>
            <a:off x="640080" y="5120640"/>
            <a:ext cx="5257800" cy="640080"/>
          </a:xfrm>
          <a:prstGeom prst="rect">
            <a:avLst/>
          </a:prstGeom>
          <a:noFill/>
        </p:spPr>
        <p:txBody>
          <a:bodyPr wrap="square" lIns="0" tIns="0" rIns="0" bIns="0" anchor="t">
            <a:spAutoFit/>
          </a:bodyPr>
          <a:lstStyle/>
          <a:p>
            <a:pPr algn="l"/>
            <a:r>
              <a:rPr sz="1300" b="0" i="0">
                <a:solidFill>
                  <a:srgbClr val="6B6760"/>
                </a:solidFill>
                <a:latin typeface="Segoe UI"/>
              </a:rPr>
              <a:t>selfHeal re-applies Git when the cluster differs. prune deletes objects removed from Git.</a:t>
            </a:r>
          </a:p>
        </p:txBody>
      </p:sp>
      <p:sp>
        <p:nvSpPr>
          <p:cNvPr id="11" name="TextBox 10"/>
          <p:cNvSpPr txBox="1"/>
          <p:nvPr/>
        </p:nvSpPr>
        <p:spPr>
          <a:xfrm>
            <a:off x="6291072" y="1737360"/>
            <a:ext cx="5257800" cy="274320"/>
          </a:xfrm>
          <a:prstGeom prst="rect">
            <a:avLst/>
          </a:prstGeom>
          <a:noFill/>
        </p:spPr>
        <p:txBody>
          <a:bodyPr wrap="square" lIns="0" tIns="0" rIns="0" bIns="0" anchor="t">
            <a:spAutoFit/>
          </a:bodyPr>
          <a:lstStyle/>
          <a:p>
            <a:pPr algn="l"/>
            <a:r>
              <a:rPr sz="1100" b="0" i="0">
                <a:solidFill>
                  <a:srgbClr val="6B6760"/>
                </a:solidFill>
                <a:latin typeface="Consolas"/>
              </a:rPr>
              <a:t>scripts/ci-pipeline.sh  (shortened)</a:t>
            </a:r>
          </a:p>
        </p:txBody>
      </p:sp>
      <p:sp>
        <p:nvSpPr>
          <p:cNvPr id="12" name="Rectangle 11"/>
          <p:cNvSpPr/>
          <p:nvPr/>
        </p:nvSpPr>
        <p:spPr>
          <a:xfrm>
            <a:off x="6291072" y="2057400"/>
            <a:ext cx="5257800" cy="2926080"/>
          </a:xfrm>
          <a:prstGeom prst="rect">
            <a:avLst/>
          </a:prstGeom>
          <a:solidFill>
            <a:srgbClr val="141414"/>
          </a:solidFill>
          <a:ln>
            <a:noFill/>
          </a:ln>
          <a:effectLst/>
        </p:spPr>
        <p:txBody>
          <a:bodyPr rtlCol="0" anchor="ctr"/>
          <a:lstStyle/>
          <a:p>
            <a:pPr algn="ctr"/>
            <a:endParaRPr/>
          </a:p>
        </p:txBody>
      </p:sp>
      <p:sp>
        <p:nvSpPr>
          <p:cNvPr id="13" name="TextBox 12"/>
          <p:cNvSpPr txBox="1"/>
          <p:nvPr/>
        </p:nvSpPr>
        <p:spPr>
          <a:xfrm>
            <a:off x="6565392" y="2286000"/>
            <a:ext cx="4800600" cy="2560320"/>
          </a:xfrm>
          <a:prstGeom prst="rect">
            <a:avLst/>
          </a:prstGeom>
          <a:noFill/>
        </p:spPr>
        <p:txBody>
          <a:bodyPr wrap="square" lIns="0" tIns="0" rIns="0" bIns="0" anchor="t">
            <a:spAutoFit/>
          </a:bodyPr>
          <a:lstStyle/>
          <a:p>
            <a:pPr algn="l">
              <a:spcAft>
                <a:spcPts val="100"/>
              </a:spcAft>
            </a:pPr>
            <a:r>
              <a:rPr sz="1300" b="0" i="0">
                <a:solidFill>
                  <a:srgbClr val="EEEAE0"/>
                </a:solidFill>
                <a:latin typeface="Consolas"/>
              </a:rPr>
              <a:t>docker build -t $REGISTRY/todo-app:$SHA .</a:t>
            </a:r>
          </a:p>
          <a:p>
            <a:pPr algn="l">
              <a:spcAft>
                <a:spcPts val="100"/>
              </a:spcAft>
            </a:pPr>
            <a:r>
              <a:rPr sz="1300" b="0" i="0">
                <a:solidFill>
                  <a:srgbClr val="EEEAE0"/>
                </a:solidFill>
                <a:latin typeface="Consolas"/>
              </a:rPr>
              <a:t>docker push $REGISTRY/todo-app:$SHA</a:t>
            </a:r>
          </a:p>
          <a:p>
            <a:pPr algn="l">
              <a:spcAft>
                <a:spcPts val="100"/>
              </a:spcAft>
            </a:pPr>
            <a:r>
              <a:rPr sz="1300" b="0" i="0">
                <a:solidFill>
                  <a:srgbClr val="EEEAE0"/>
                </a:solidFill>
                <a:latin typeface="Consolas"/>
              </a:rPr>
              <a:t> </a:t>
            </a:r>
          </a:p>
          <a:p>
            <a:pPr algn="l">
              <a:spcAft>
                <a:spcPts val="100"/>
              </a:spcAft>
            </a:pPr>
            <a:r>
              <a:rPr sz="1300" b="0" i="0">
                <a:solidFill>
                  <a:srgbClr val="EEEAE0"/>
                </a:solidFill>
                <a:latin typeface="Consolas"/>
              </a:rPr>
              <a:t>git clone .../argo-deployment.git ops</a:t>
            </a:r>
          </a:p>
          <a:p>
            <a:pPr algn="l">
              <a:spcAft>
                <a:spcPts val="100"/>
              </a:spcAft>
            </a:pPr>
            <a:r>
              <a:rPr sz="1300" b="0" i="0">
                <a:solidFill>
                  <a:srgbClr val="EEEAE0"/>
                </a:solidFill>
                <a:latin typeface="Consolas"/>
              </a:rPr>
              <a:t>sed -i "s|image: .*|image: ...:$SHA|" \</a:t>
            </a:r>
          </a:p>
          <a:p>
            <a:pPr algn="l">
              <a:spcAft>
                <a:spcPts val="100"/>
              </a:spcAft>
            </a:pPr>
            <a:r>
              <a:rPr sz="1300" b="0" i="0">
                <a:solidFill>
                  <a:srgbClr val="EEEAE0"/>
                </a:solidFill>
                <a:latin typeface="Consolas"/>
              </a:rPr>
              <a:t>    ops/manifest.yml</a:t>
            </a:r>
          </a:p>
          <a:p>
            <a:pPr algn="l">
              <a:spcAft>
                <a:spcPts val="100"/>
              </a:spcAft>
            </a:pPr>
            <a:r>
              <a:rPr sz="1300" b="0" i="0">
                <a:solidFill>
                  <a:srgbClr val="EEEAE0"/>
                </a:solidFill>
                <a:latin typeface="Consolas"/>
              </a:rPr>
              <a:t>git -C ops commit -am "Update tag to $SHA"</a:t>
            </a:r>
          </a:p>
          <a:p>
            <a:pPr algn="l">
              <a:spcAft>
                <a:spcPts val="100"/>
              </a:spcAft>
            </a:pPr>
            <a:r>
              <a:rPr sz="1300" b="1" i="0">
                <a:solidFill>
                  <a:srgbClr val="D24E25"/>
                </a:solidFill>
                <a:latin typeface="Consolas"/>
              </a:rPr>
              <a:t>git -C ops push origin main</a:t>
            </a:r>
          </a:p>
          <a:p>
            <a:pPr algn="l">
              <a:spcAft>
                <a:spcPts val="100"/>
              </a:spcAft>
            </a:pPr>
            <a:r>
              <a:rPr sz="1300" b="0" i="0">
                <a:solidFill>
                  <a:srgbClr val="EEEAE0"/>
                </a:solidFill>
                <a:latin typeface="Consolas"/>
              </a:rPr>
              <a:t> </a:t>
            </a:r>
          </a:p>
          <a:p>
            <a:pPr algn="l">
              <a:spcAft>
                <a:spcPts val="100"/>
              </a:spcAft>
            </a:pPr>
            <a:r>
              <a:rPr sz="1300" b="1" i="0">
                <a:solidFill>
                  <a:srgbClr val="D24E25"/>
                </a:solidFill>
                <a:latin typeface="Consolas"/>
              </a:rPr>
              <a:t># no kubectl, no kubeconfig</a:t>
            </a:r>
          </a:p>
        </p:txBody>
      </p:sp>
      <p:sp>
        <p:nvSpPr>
          <p:cNvPr id="14" name="TextBox 13"/>
          <p:cNvSpPr txBox="1"/>
          <p:nvPr/>
        </p:nvSpPr>
        <p:spPr>
          <a:xfrm>
            <a:off x="6291072" y="5120640"/>
            <a:ext cx="5257800" cy="640080"/>
          </a:xfrm>
          <a:prstGeom prst="rect">
            <a:avLst/>
          </a:prstGeom>
          <a:noFill/>
        </p:spPr>
        <p:txBody>
          <a:bodyPr wrap="square" lIns="0" tIns="0" rIns="0" bIns="0" anchor="t">
            <a:spAutoFit/>
          </a:bodyPr>
          <a:lstStyle/>
          <a:p>
            <a:pPr algn="l"/>
            <a:r>
              <a:rPr sz="1300" b="0" i="0">
                <a:solidFill>
                  <a:srgbClr val="6B6760"/>
                </a:solidFill>
                <a:latin typeface="Segoe UI"/>
              </a:rPr>
              <a:t>The CI script stops at git push. It has no way to reach the cluster.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09   Live demo</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EEEAE0"/>
                </a:solidFill>
                <a:latin typeface="Georgia"/>
              </a:rPr>
              <a:t>Five things to watch</a:t>
            </a:r>
          </a:p>
        </p:txBody>
      </p:sp>
      <p:cxnSp>
        <p:nvCxnSpPr>
          <p:cNvPr id="4" name="Connector 3"/>
          <p:cNvCxnSpPr/>
          <p:nvPr/>
        </p:nvCxnSpPr>
        <p:spPr>
          <a:xfrm>
            <a:off x="640080" y="6355080"/>
            <a:ext cx="10908792" cy="0"/>
          </a:xfrm>
          <a:prstGeom prst="line">
            <a:avLst/>
          </a:prstGeom>
          <a:ln w="9525">
            <a:solidFill>
              <a:srgbClr val="3A3A38"/>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9A968E"/>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9A968E"/>
                </a:solidFill>
                <a:latin typeface="Consolas"/>
              </a:rPr>
              <a:t>09 / 12</a:t>
            </a:r>
          </a:p>
        </p:txBody>
      </p:sp>
      <p:sp>
        <p:nvSpPr>
          <p:cNvPr id="7" name="TextBox 6"/>
          <p:cNvSpPr txBox="1"/>
          <p:nvPr/>
        </p:nvSpPr>
        <p:spPr>
          <a:xfrm>
            <a:off x="640080" y="1874519"/>
            <a:ext cx="731520" cy="685800"/>
          </a:xfrm>
          <a:prstGeom prst="rect">
            <a:avLst/>
          </a:prstGeom>
          <a:noFill/>
        </p:spPr>
        <p:txBody>
          <a:bodyPr wrap="square" lIns="0" tIns="0" rIns="0" bIns="0" anchor="ctr">
            <a:spAutoFit/>
          </a:bodyPr>
          <a:lstStyle/>
          <a:p>
            <a:pPr algn="l"/>
            <a:r>
              <a:rPr sz="3000" b="0" i="0">
                <a:solidFill>
                  <a:srgbClr val="D24E25"/>
                </a:solidFill>
                <a:latin typeface="Georgia"/>
              </a:rPr>
              <a:t>1</a:t>
            </a:r>
          </a:p>
        </p:txBody>
      </p:sp>
      <p:sp>
        <p:nvSpPr>
          <p:cNvPr id="8" name="TextBox 7"/>
          <p:cNvSpPr txBox="1"/>
          <p:nvPr/>
        </p:nvSpPr>
        <p:spPr>
          <a:xfrm>
            <a:off x="1371600" y="1874519"/>
            <a:ext cx="6217920" cy="685800"/>
          </a:xfrm>
          <a:prstGeom prst="rect">
            <a:avLst/>
          </a:prstGeom>
          <a:noFill/>
        </p:spPr>
        <p:txBody>
          <a:bodyPr wrap="square" lIns="0" tIns="0" rIns="0" bIns="0" anchor="ctr">
            <a:spAutoFit/>
          </a:bodyPr>
          <a:lstStyle/>
          <a:p>
            <a:pPr algn="l"/>
            <a:r>
              <a:rPr sz="2000" b="0" i="0">
                <a:solidFill>
                  <a:srgbClr val="EEEAE0"/>
                </a:solidFill>
                <a:latin typeface="Segoe UI"/>
              </a:rPr>
              <a:t>Deploy a new version with only a git push</a:t>
            </a:r>
          </a:p>
        </p:txBody>
      </p:sp>
      <p:sp>
        <p:nvSpPr>
          <p:cNvPr id="9" name="TextBox 8"/>
          <p:cNvSpPr txBox="1"/>
          <p:nvPr/>
        </p:nvSpPr>
        <p:spPr>
          <a:xfrm>
            <a:off x="7863840" y="1874519"/>
            <a:ext cx="3685032" cy="685800"/>
          </a:xfrm>
          <a:prstGeom prst="rect">
            <a:avLst/>
          </a:prstGeom>
          <a:noFill/>
        </p:spPr>
        <p:txBody>
          <a:bodyPr wrap="square" lIns="0" tIns="0" rIns="0" bIns="0" anchor="ctr">
            <a:spAutoFit/>
          </a:bodyPr>
          <a:lstStyle/>
          <a:p>
            <a:pPr algn="r"/>
            <a:r>
              <a:rPr sz="1500" b="0" i="0">
                <a:solidFill>
                  <a:srgbClr val="9A968E"/>
                </a:solidFill>
                <a:latin typeface="Consolas"/>
              </a:rPr>
              <a:t>.\gitops release</a:t>
            </a:r>
          </a:p>
        </p:txBody>
      </p:sp>
      <p:cxnSp>
        <p:nvCxnSpPr>
          <p:cNvPr id="10" name="Connector 9"/>
          <p:cNvCxnSpPr/>
          <p:nvPr/>
        </p:nvCxnSpPr>
        <p:spPr>
          <a:xfrm>
            <a:off x="640080" y="2624327"/>
            <a:ext cx="10908792" cy="0"/>
          </a:xfrm>
          <a:prstGeom prst="line">
            <a:avLst/>
          </a:prstGeom>
          <a:ln w="9525">
            <a:solidFill>
              <a:srgbClr val="333331"/>
            </a:solidFill>
          </a:ln>
        </p:spPr>
      </p:cxnSp>
      <p:sp>
        <p:nvSpPr>
          <p:cNvPr id="11" name="TextBox 10"/>
          <p:cNvSpPr txBox="1"/>
          <p:nvPr/>
        </p:nvSpPr>
        <p:spPr>
          <a:xfrm>
            <a:off x="640080" y="2697479"/>
            <a:ext cx="731520" cy="685800"/>
          </a:xfrm>
          <a:prstGeom prst="rect">
            <a:avLst/>
          </a:prstGeom>
          <a:noFill/>
        </p:spPr>
        <p:txBody>
          <a:bodyPr wrap="square" lIns="0" tIns="0" rIns="0" bIns="0" anchor="ctr">
            <a:spAutoFit/>
          </a:bodyPr>
          <a:lstStyle/>
          <a:p>
            <a:pPr algn="l"/>
            <a:r>
              <a:rPr sz="3000" b="0" i="0">
                <a:solidFill>
                  <a:srgbClr val="D24E25"/>
                </a:solidFill>
                <a:latin typeface="Georgia"/>
              </a:rPr>
              <a:t>2</a:t>
            </a:r>
          </a:p>
        </p:txBody>
      </p:sp>
      <p:sp>
        <p:nvSpPr>
          <p:cNvPr id="12" name="TextBox 11"/>
          <p:cNvSpPr txBox="1"/>
          <p:nvPr/>
        </p:nvSpPr>
        <p:spPr>
          <a:xfrm>
            <a:off x="1371600" y="2697479"/>
            <a:ext cx="6217920" cy="685800"/>
          </a:xfrm>
          <a:prstGeom prst="rect">
            <a:avLst/>
          </a:prstGeom>
          <a:noFill/>
        </p:spPr>
        <p:txBody>
          <a:bodyPr wrap="square" lIns="0" tIns="0" rIns="0" bIns="0" anchor="ctr">
            <a:spAutoFit/>
          </a:bodyPr>
          <a:lstStyle/>
          <a:p>
            <a:pPr algn="l"/>
            <a:r>
              <a:rPr sz="2000" b="0" i="0">
                <a:solidFill>
                  <a:srgbClr val="EEEAE0"/>
                </a:solidFill>
                <a:latin typeface="Segoe UI"/>
              </a:rPr>
              <a:t>The CI bot's commit appears in the config repo</a:t>
            </a:r>
          </a:p>
        </p:txBody>
      </p:sp>
      <p:sp>
        <p:nvSpPr>
          <p:cNvPr id="13" name="TextBox 12"/>
          <p:cNvSpPr txBox="1"/>
          <p:nvPr/>
        </p:nvSpPr>
        <p:spPr>
          <a:xfrm>
            <a:off x="7863840" y="2697479"/>
            <a:ext cx="3685032" cy="685800"/>
          </a:xfrm>
          <a:prstGeom prst="rect">
            <a:avLst/>
          </a:prstGeom>
          <a:noFill/>
        </p:spPr>
        <p:txBody>
          <a:bodyPr wrap="square" lIns="0" tIns="0" rIns="0" bIns="0" anchor="ctr">
            <a:spAutoFit/>
          </a:bodyPr>
          <a:lstStyle/>
          <a:p>
            <a:pPr algn="r"/>
            <a:r>
              <a:rPr sz="1500" b="0" i="0">
                <a:solidFill>
                  <a:srgbClr val="9A968E"/>
                </a:solidFill>
                <a:latin typeface="Consolas"/>
              </a:rPr>
              <a:t>Gitea commit list</a:t>
            </a:r>
          </a:p>
        </p:txBody>
      </p:sp>
      <p:cxnSp>
        <p:nvCxnSpPr>
          <p:cNvPr id="14" name="Connector 13"/>
          <p:cNvCxnSpPr/>
          <p:nvPr/>
        </p:nvCxnSpPr>
        <p:spPr>
          <a:xfrm>
            <a:off x="640080" y="3447287"/>
            <a:ext cx="10908792" cy="0"/>
          </a:xfrm>
          <a:prstGeom prst="line">
            <a:avLst/>
          </a:prstGeom>
          <a:ln w="9525">
            <a:solidFill>
              <a:srgbClr val="333331"/>
            </a:solidFill>
          </a:ln>
        </p:spPr>
      </p:cxnSp>
      <p:sp>
        <p:nvSpPr>
          <p:cNvPr id="15" name="TextBox 14"/>
          <p:cNvSpPr txBox="1"/>
          <p:nvPr/>
        </p:nvSpPr>
        <p:spPr>
          <a:xfrm>
            <a:off x="640080" y="3520439"/>
            <a:ext cx="731520" cy="685800"/>
          </a:xfrm>
          <a:prstGeom prst="rect">
            <a:avLst/>
          </a:prstGeom>
          <a:noFill/>
        </p:spPr>
        <p:txBody>
          <a:bodyPr wrap="square" lIns="0" tIns="0" rIns="0" bIns="0" anchor="ctr">
            <a:spAutoFit/>
          </a:bodyPr>
          <a:lstStyle/>
          <a:p>
            <a:pPr algn="l"/>
            <a:r>
              <a:rPr sz="3000" b="0" i="0">
                <a:solidFill>
                  <a:srgbClr val="D24E25"/>
                </a:solidFill>
                <a:latin typeface="Georgia"/>
              </a:rPr>
              <a:t>3</a:t>
            </a:r>
          </a:p>
        </p:txBody>
      </p:sp>
      <p:sp>
        <p:nvSpPr>
          <p:cNvPr id="16" name="TextBox 15"/>
          <p:cNvSpPr txBox="1"/>
          <p:nvPr/>
        </p:nvSpPr>
        <p:spPr>
          <a:xfrm>
            <a:off x="1371600" y="3520439"/>
            <a:ext cx="6217920" cy="685800"/>
          </a:xfrm>
          <a:prstGeom prst="rect">
            <a:avLst/>
          </a:prstGeom>
          <a:noFill/>
        </p:spPr>
        <p:txBody>
          <a:bodyPr wrap="square" lIns="0" tIns="0" rIns="0" bIns="0" anchor="ctr">
            <a:spAutoFit/>
          </a:bodyPr>
          <a:lstStyle/>
          <a:p>
            <a:pPr algn="l"/>
            <a:r>
              <a:rPr sz="2000" b="0" i="0">
                <a:solidFill>
                  <a:srgbClr val="EEEAE0"/>
                </a:solidFill>
                <a:latin typeface="Segoe UI"/>
              </a:rPr>
              <a:t>Scale to 8 pods and delete the service by hand</a:t>
            </a:r>
          </a:p>
        </p:txBody>
      </p:sp>
      <p:sp>
        <p:nvSpPr>
          <p:cNvPr id="17" name="TextBox 16"/>
          <p:cNvSpPr txBox="1"/>
          <p:nvPr/>
        </p:nvSpPr>
        <p:spPr>
          <a:xfrm>
            <a:off x="7863840" y="3520439"/>
            <a:ext cx="3685032" cy="685800"/>
          </a:xfrm>
          <a:prstGeom prst="rect">
            <a:avLst/>
          </a:prstGeom>
          <a:noFill/>
        </p:spPr>
        <p:txBody>
          <a:bodyPr wrap="square" lIns="0" tIns="0" rIns="0" bIns="0" anchor="ctr">
            <a:spAutoFit/>
          </a:bodyPr>
          <a:lstStyle/>
          <a:p>
            <a:pPr algn="r"/>
            <a:r>
              <a:rPr sz="1500" b="0" i="0">
                <a:solidFill>
                  <a:srgbClr val="9A968E"/>
                </a:solidFill>
                <a:latin typeface="Consolas"/>
              </a:rPr>
              <a:t>.\gitops drift-demo</a:t>
            </a:r>
          </a:p>
        </p:txBody>
      </p:sp>
      <p:cxnSp>
        <p:nvCxnSpPr>
          <p:cNvPr id="18" name="Connector 17"/>
          <p:cNvCxnSpPr/>
          <p:nvPr/>
        </p:nvCxnSpPr>
        <p:spPr>
          <a:xfrm>
            <a:off x="640080" y="4270248"/>
            <a:ext cx="10908792" cy="0"/>
          </a:xfrm>
          <a:prstGeom prst="line">
            <a:avLst/>
          </a:prstGeom>
          <a:ln w="9525">
            <a:solidFill>
              <a:srgbClr val="333331"/>
            </a:solidFill>
          </a:ln>
        </p:spPr>
      </p:cxnSp>
      <p:sp>
        <p:nvSpPr>
          <p:cNvPr id="19" name="TextBox 18"/>
          <p:cNvSpPr txBox="1"/>
          <p:nvPr/>
        </p:nvSpPr>
        <p:spPr>
          <a:xfrm>
            <a:off x="640080" y="4343400"/>
            <a:ext cx="731520" cy="685800"/>
          </a:xfrm>
          <a:prstGeom prst="rect">
            <a:avLst/>
          </a:prstGeom>
          <a:noFill/>
        </p:spPr>
        <p:txBody>
          <a:bodyPr wrap="square" lIns="0" tIns="0" rIns="0" bIns="0" anchor="ctr">
            <a:spAutoFit/>
          </a:bodyPr>
          <a:lstStyle/>
          <a:p>
            <a:pPr algn="l"/>
            <a:r>
              <a:rPr sz="3000" b="0" i="0">
                <a:solidFill>
                  <a:srgbClr val="D24E25"/>
                </a:solidFill>
                <a:latin typeface="Georgia"/>
              </a:rPr>
              <a:t>4</a:t>
            </a:r>
          </a:p>
        </p:txBody>
      </p:sp>
      <p:sp>
        <p:nvSpPr>
          <p:cNvPr id="20" name="TextBox 19"/>
          <p:cNvSpPr txBox="1"/>
          <p:nvPr/>
        </p:nvSpPr>
        <p:spPr>
          <a:xfrm>
            <a:off x="1371600" y="4343400"/>
            <a:ext cx="6217920" cy="685800"/>
          </a:xfrm>
          <a:prstGeom prst="rect">
            <a:avLst/>
          </a:prstGeom>
          <a:noFill/>
        </p:spPr>
        <p:txBody>
          <a:bodyPr wrap="square" lIns="0" tIns="0" rIns="0" bIns="0" anchor="ctr">
            <a:spAutoFit/>
          </a:bodyPr>
          <a:lstStyle/>
          <a:p>
            <a:pPr algn="l"/>
            <a:r>
              <a:rPr sz="2000" b="0" i="0">
                <a:solidFill>
                  <a:srgbClr val="EEEAE0"/>
                </a:solidFill>
                <a:latin typeface="Segoe UI"/>
              </a:rPr>
              <a:t>Roll back with a git revert</a:t>
            </a:r>
          </a:p>
        </p:txBody>
      </p:sp>
      <p:sp>
        <p:nvSpPr>
          <p:cNvPr id="21" name="TextBox 20"/>
          <p:cNvSpPr txBox="1"/>
          <p:nvPr/>
        </p:nvSpPr>
        <p:spPr>
          <a:xfrm>
            <a:off x="7863840" y="4343400"/>
            <a:ext cx="3685032" cy="685800"/>
          </a:xfrm>
          <a:prstGeom prst="rect">
            <a:avLst/>
          </a:prstGeom>
          <a:noFill/>
        </p:spPr>
        <p:txBody>
          <a:bodyPr wrap="square" lIns="0" tIns="0" rIns="0" bIns="0" anchor="ctr">
            <a:spAutoFit/>
          </a:bodyPr>
          <a:lstStyle/>
          <a:p>
            <a:pPr algn="r"/>
            <a:r>
              <a:rPr sz="1500" b="0" i="0">
                <a:solidFill>
                  <a:srgbClr val="9A968E"/>
                </a:solidFill>
                <a:latin typeface="Consolas"/>
              </a:rPr>
              <a:t>.\gitops rollback</a:t>
            </a:r>
          </a:p>
        </p:txBody>
      </p:sp>
      <p:cxnSp>
        <p:nvCxnSpPr>
          <p:cNvPr id="22" name="Connector 21"/>
          <p:cNvCxnSpPr/>
          <p:nvPr/>
        </p:nvCxnSpPr>
        <p:spPr>
          <a:xfrm>
            <a:off x="640080" y="5093208"/>
            <a:ext cx="10908792" cy="0"/>
          </a:xfrm>
          <a:prstGeom prst="line">
            <a:avLst/>
          </a:prstGeom>
          <a:ln w="9525">
            <a:solidFill>
              <a:srgbClr val="333331"/>
            </a:solidFill>
          </a:ln>
        </p:spPr>
      </p:cxnSp>
      <p:sp>
        <p:nvSpPr>
          <p:cNvPr id="23" name="TextBox 22"/>
          <p:cNvSpPr txBox="1"/>
          <p:nvPr/>
        </p:nvSpPr>
        <p:spPr>
          <a:xfrm>
            <a:off x="640080" y="5166360"/>
            <a:ext cx="731520" cy="685800"/>
          </a:xfrm>
          <a:prstGeom prst="rect">
            <a:avLst/>
          </a:prstGeom>
          <a:noFill/>
        </p:spPr>
        <p:txBody>
          <a:bodyPr wrap="square" lIns="0" tIns="0" rIns="0" bIns="0" anchor="ctr">
            <a:spAutoFit/>
          </a:bodyPr>
          <a:lstStyle/>
          <a:p>
            <a:pPr algn="l"/>
            <a:r>
              <a:rPr sz="3000" b="0" i="0">
                <a:solidFill>
                  <a:srgbClr val="D24E25"/>
                </a:solidFill>
                <a:latin typeface="Georgia"/>
              </a:rPr>
              <a:t>5</a:t>
            </a:r>
          </a:p>
        </p:txBody>
      </p:sp>
      <p:sp>
        <p:nvSpPr>
          <p:cNvPr id="24" name="TextBox 23"/>
          <p:cNvSpPr txBox="1"/>
          <p:nvPr/>
        </p:nvSpPr>
        <p:spPr>
          <a:xfrm>
            <a:off x="1371600" y="5166360"/>
            <a:ext cx="6217920" cy="685800"/>
          </a:xfrm>
          <a:prstGeom prst="rect">
            <a:avLst/>
          </a:prstGeom>
          <a:noFill/>
        </p:spPr>
        <p:txBody>
          <a:bodyPr wrap="square" lIns="0" tIns="0" rIns="0" bIns="0" anchor="ctr">
            <a:spAutoFit/>
          </a:bodyPr>
          <a:lstStyle/>
          <a:p>
            <a:pPr algn="l"/>
            <a:r>
              <a:rPr sz="2000" b="0" i="0">
                <a:solidFill>
                  <a:srgbClr val="EEEAE0"/>
                </a:solidFill>
                <a:latin typeface="Segoe UI"/>
              </a:rPr>
              <a:t>Push code with a failing test</a:t>
            </a:r>
          </a:p>
        </p:txBody>
      </p:sp>
      <p:sp>
        <p:nvSpPr>
          <p:cNvPr id="25" name="TextBox 24"/>
          <p:cNvSpPr txBox="1"/>
          <p:nvPr/>
        </p:nvSpPr>
        <p:spPr>
          <a:xfrm>
            <a:off x="7863840" y="5166360"/>
            <a:ext cx="3685032" cy="685800"/>
          </a:xfrm>
          <a:prstGeom prst="rect">
            <a:avLst/>
          </a:prstGeom>
          <a:noFill/>
        </p:spPr>
        <p:txBody>
          <a:bodyPr wrap="square" lIns="0" tIns="0" rIns="0" bIns="0" anchor="ctr">
            <a:spAutoFit/>
          </a:bodyPr>
          <a:lstStyle/>
          <a:p>
            <a:pPr algn="r"/>
            <a:r>
              <a:rPr sz="1500" b="0" i="0">
                <a:solidFill>
                  <a:srgbClr val="9A968E"/>
                </a:solidFill>
                <a:latin typeface="Consolas"/>
              </a:rPr>
              <a:t>.\gitops release broken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10   Results</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Measured on our laptop</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10 / 12</a:t>
            </a:r>
          </a:p>
        </p:txBody>
      </p:sp>
      <p:cxnSp>
        <p:nvCxnSpPr>
          <p:cNvPr id="7" name="Connector 6"/>
          <p:cNvCxnSpPr/>
          <p:nvPr/>
        </p:nvCxnSpPr>
        <p:spPr>
          <a:xfrm>
            <a:off x="640080" y="1874519"/>
            <a:ext cx="2926080" cy="0"/>
          </a:xfrm>
          <a:prstGeom prst="line">
            <a:avLst/>
          </a:prstGeom>
          <a:ln w="12700">
            <a:solidFill>
              <a:srgbClr val="171717"/>
            </a:solidFill>
          </a:ln>
        </p:spPr>
      </p:cxnSp>
      <p:sp>
        <p:nvSpPr>
          <p:cNvPr id="8" name="TextBox 7"/>
          <p:cNvSpPr txBox="1"/>
          <p:nvPr/>
        </p:nvSpPr>
        <p:spPr>
          <a:xfrm>
            <a:off x="640080" y="2011679"/>
            <a:ext cx="3017520" cy="868680"/>
          </a:xfrm>
          <a:prstGeom prst="rect">
            <a:avLst/>
          </a:prstGeom>
          <a:noFill/>
        </p:spPr>
        <p:txBody>
          <a:bodyPr wrap="square" lIns="0" tIns="0" rIns="0" bIns="0" anchor="t">
            <a:spAutoFit/>
          </a:bodyPr>
          <a:lstStyle/>
          <a:p>
            <a:pPr algn="l"/>
            <a:r>
              <a:rPr sz="4600" b="0" i="0">
                <a:solidFill>
                  <a:srgbClr val="D24E25"/>
                </a:solidFill>
                <a:latin typeface="Segoe UI Light"/>
              </a:rPr>
              <a:t>35 to 60 s</a:t>
            </a:r>
          </a:p>
        </p:txBody>
      </p:sp>
      <p:sp>
        <p:nvSpPr>
          <p:cNvPr id="9" name="TextBox 8"/>
          <p:cNvSpPr txBox="1"/>
          <p:nvPr/>
        </p:nvSpPr>
        <p:spPr>
          <a:xfrm>
            <a:off x="640080" y="2880360"/>
            <a:ext cx="2834640" cy="731520"/>
          </a:xfrm>
          <a:prstGeom prst="rect">
            <a:avLst/>
          </a:prstGeom>
          <a:noFill/>
        </p:spPr>
        <p:txBody>
          <a:bodyPr wrap="square" lIns="0" tIns="0" rIns="0" bIns="0" anchor="t">
            <a:spAutoFit/>
          </a:bodyPr>
          <a:lstStyle/>
          <a:p>
            <a:pPr algn="l"/>
            <a:r>
              <a:rPr sz="1300" b="0" i="0">
                <a:solidFill>
                  <a:srgbClr val="6B6760"/>
                </a:solidFill>
                <a:latin typeface="Segoe UI"/>
              </a:rPr>
              <a:t>git push to all 3 pods on the new version</a:t>
            </a:r>
          </a:p>
        </p:txBody>
      </p:sp>
      <p:cxnSp>
        <p:nvCxnSpPr>
          <p:cNvPr id="10" name="Connector 9"/>
          <p:cNvCxnSpPr/>
          <p:nvPr/>
        </p:nvCxnSpPr>
        <p:spPr>
          <a:xfrm>
            <a:off x="3931920" y="1874519"/>
            <a:ext cx="2926080" cy="0"/>
          </a:xfrm>
          <a:prstGeom prst="line">
            <a:avLst/>
          </a:prstGeom>
          <a:ln w="12700">
            <a:solidFill>
              <a:srgbClr val="171717"/>
            </a:solidFill>
          </a:ln>
        </p:spPr>
      </p:cxnSp>
      <p:sp>
        <p:nvSpPr>
          <p:cNvPr id="11" name="TextBox 10"/>
          <p:cNvSpPr txBox="1"/>
          <p:nvPr/>
        </p:nvSpPr>
        <p:spPr>
          <a:xfrm>
            <a:off x="3931920" y="2011679"/>
            <a:ext cx="3017520" cy="868680"/>
          </a:xfrm>
          <a:prstGeom prst="rect">
            <a:avLst/>
          </a:prstGeom>
          <a:noFill/>
        </p:spPr>
        <p:txBody>
          <a:bodyPr wrap="square" lIns="0" tIns="0" rIns="0" bIns="0" anchor="t">
            <a:spAutoFit/>
          </a:bodyPr>
          <a:lstStyle/>
          <a:p>
            <a:pPr algn="l"/>
            <a:r>
              <a:rPr sz="4600" b="0" i="0">
                <a:solidFill>
                  <a:srgbClr val="D24E25"/>
                </a:solidFill>
                <a:latin typeface="Segoe UI Light"/>
              </a:rPr>
              <a:t>6 s</a:t>
            </a:r>
          </a:p>
        </p:txBody>
      </p:sp>
      <p:sp>
        <p:nvSpPr>
          <p:cNvPr id="12" name="TextBox 11"/>
          <p:cNvSpPr txBox="1"/>
          <p:nvPr/>
        </p:nvSpPr>
        <p:spPr>
          <a:xfrm>
            <a:off x="3931920" y="2880360"/>
            <a:ext cx="2834640" cy="731520"/>
          </a:xfrm>
          <a:prstGeom prst="rect">
            <a:avLst/>
          </a:prstGeom>
          <a:noFill/>
        </p:spPr>
        <p:txBody>
          <a:bodyPr wrap="square" lIns="0" tIns="0" rIns="0" bIns="0" anchor="t">
            <a:spAutoFit/>
          </a:bodyPr>
          <a:lstStyle/>
          <a:p>
            <a:pPr algn="l"/>
            <a:r>
              <a:rPr sz="1300" b="0" i="0">
                <a:solidFill>
                  <a:srgbClr val="6B6760"/>
                </a:solidFill>
                <a:latin typeface="Segoe UI"/>
              </a:rPr>
              <a:t>for ArgoCD to undo a manual scale and a deleted service</a:t>
            </a:r>
          </a:p>
        </p:txBody>
      </p:sp>
      <p:cxnSp>
        <p:nvCxnSpPr>
          <p:cNvPr id="13" name="Connector 12"/>
          <p:cNvCxnSpPr/>
          <p:nvPr/>
        </p:nvCxnSpPr>
        <p:spPr>
          <a:xfrm>
            <a:off x="640080" y="3749039"/>
            <a:ext cx="2926080" cy="0"/>
          </a:xfrm>
          <a:prstGeom prst="line">
            <a:avLst/>
          </a:prstGeom>
          <a:ln w="12700">
            <a:solidFill>
              <a:srgbClr val="171717"/>
            </a:solidFill>
          </a:ln>
        </p:spPr>
      </p:cxnSp>
      <p:sp>
        <p:nvSpPr>
          <p:cNvPr id="14" name="TextBox 13"/>
          <p:cNvSpPr txBox="1"/>
          <p:nvPr/>
        </p:nvSpPr>
        <p:spPr>
          <a:xfrm>
            <a:off x="640080" y="3886200"/>
            <a:ext cx="3017520" cy="868680"/>
          </a:xfrm>
          <a:prstGeom prst="rect">
            <a:avLst/>
          </a:prstGeom>
          <a:noFill/>
        </p:spPr>
        <p:txBody>
          <a:bodyPr wrap="square" lIns="0" tIns="0" rIns="0" bIns="0" anchor="t">
            <a:spAutoFit/>
          </a:bodyPr>
          <a:lstStyle/>
          <a:p>
            <a:pPr algn="l"/>
            <a:r>
              <a:rPr sz="4600" b="0" i="0">
                <a:solidFill>
                  <a:srgbClr val="D24E25"/>
                </a:solidFill>
                <a:latin typeface="Segoe UI Light"/>
              </a:rPr>
              <a:t>19 s</a:t>
            </a:r>
          </a:p>
        </p:txBody>
      </p:sp>
      <p:sp>
        <p:nvSpPr>
          <p:cNvPr id="15" name="TextBox 14"/>
          <p:cNvSpPr txBox="1"/>
          <p:nvPr/>
        </p:nvSpPr>
        <p:spPr>
          <a:xfrm>
            <a:off x="640080" y="4754879"/>
            <a:ext cx="2834640" cy="731520"/>
          </a:xfrm>
          <a:prstGeom prst="rect">
            <a:avLst/>
          </a:prstGeom>
          <a:noFill/>
        </p:spPr>
        <p:txBody>
          <a:bodyPr wrap="square" lIns="0" tIns="0" rIns="0" bIns="0" anchor="t">
            <a:spAutoFit/>
          </a:bodyPr>
          <a:lstStyle/>
          <a:p>
            <a:pPr algn="l"/>
            <a:r>
              <a:rPr sz="1300" b="0" i="0">
                <a:solidFill>
                  <a:srgbClr val="6B6760"/>
                </a:solidFill>
                <a:latin typeface="Segoe UI"/>
              </a:rPr>
              <a:t>rollback through git revert</a:t>
            </a:r>
          </a:p>
        </p:txBody>
      </p:sp>
      <p:cxnSp>
        <p:nvCxnSpPr>
          <p:cNvPr id="16" name="Connector 15"/>
          <p:cNvCxnSpPr/>
          <p:nvPr/>
        </p:nvCxnSpPr>
        <p:spPr>
          <a:xfrm>
            <a:off x="3931920" y="3749039"/>
            <a:ext cx="2926080" cy="0"/>
          </a:xfrm>
          <a:prstGeom prst="line">
            <a:avLst/>
          </a:prstGeom>
          <a:ln w="12700">
            <a:solidFill>
              <a:srgbClr val="171717"/>
            </a:solidFill>
          </a:ln>
        </p:spPr>
      </p:cxnSp>
      <p:sp>
        <p:nvSpPr>
          <p:cNvPr id="17" name="TextBox 16"/>
          <p:cNvSpPr txBox="1"/>
          <p:nvPr/>
        </p:nvSpPr>
        <p:spPr>
          <a:xfrm>
            <a:off x="3931920" y="3886200"/>
            <a:ext cx="3017520" cy="868680"/>
          </a:xfrm>
          <a:prstGeom prst="rect">
            <a:avLst/>
          </a:prstGeom>
          <a:noFill/>
        </p:spPr>
        <p:txBody>
          <a:bodyPr wrap="square" lIns="0" tIns="0" rIns="0" bIns="0" anchor="t">
            <a:spAutoFit/>
          </a:bodyPr>
          <a:lstStyle/>
          <a:p>
            <a:pPr algn="l"/>
            <a:r>
              <a:rPr sz="4600" b="0" i="0">
                <a:solidFill>
                  <a:srgbClr val="D24E25"/>
                </a:solidFill>
                <a:latin typeface="Segoe UI Light"/>
              </a:rPr>
              <a:t>0</a:t>
            </a:r>
          </a:p>
        </p:txBody>
      </p:sp>
      <p:sp>
        <p:nvSpPr>
          <p:cNvPr id="18" name="TextBox 17"/>
          <p:cNvSpPr txBox="1"/>
          <p:nvPr/>
        </p:nvSpPr>
        <p:spPr>
          <a:xfrm>
            <a:off x="3931920" y="4754879"/>
            <a:ext cx="2834640" cy="731520"/>
          </a:xfrm>
          <a:prstGeom prst="rect">
            <a:avLst/>
          </a:prstGeom>
          <a:noFill/>
        </p:spPr>
        <p:txBody>
          <a:bodyPr wrap="square" lIns="0" tIns="0" rIns="0" bIns="0" anchor="t">
            <a:spAutoFit/>
          </a:bodyPr>
          <a:lstStyle/>
          <a:p>
            <a:pPr algn="l"/>
            <a:r>
              <a:rPr sz="1300" b="0" i="0">
                <a:solidFill>
                  <a:srgbClr val="6B6760"/>
                </a:solidFill>
                <a:latin typeface="Segoe UI"/>
              </a:rPr>
              <a:t>kubectl commands run by CI or the developer</a:t>
            </a:r>
          </a:p>
        </p:txBody>
      </p:sp>
      <p:sp>
        <p:nvSpPr>
          <p:cNvPr id="19" name="TextBox 18"/>
          <p:cNvSpPr txBox="1"/>
          <p:nvPr/>
        </p:nvSpPr>
        <p:spPr>
          <a:xfrm>
            <a:off x="7589520" y="1874519"/>
            <a:ext cx="3931920" cy="274320"/>
          </a:xfrm>
          <a:prstGeom prst="rect">
            <a:avLst/>
          </a:prstGeom>
          <a:noFill/>
        </p:spPr>
        <p:txBody>
          <a:bodyPr wrap="square" lIns="0" tIns="0" rIns="0" bIns="0" anchor="t">
            <a:spAutoFit/>
          </a:bodyPr>
          <a:lstStyle/>
          <a:p>
            <a:pPr algn="l"/>
            <a:r>
              <a:rPr sz="1000" b="0" i="0">
                <a:solidFill>
                  <a:srgbClr val="6B6760"/>
                </a:solidFill>
                <a:latin typeface="Consolas"/>
              </a:rPr>
              <a:t>OBJECTIVE  /  EVIDENCE</a:t>
            </a:r>
          </a:p>
        </p:txBody>
      </p:sp>
      <p:cxnSp>
        <p:nvCxnSpPr>
          <p:cNvPr id="20" name="Connector 19"/>
          <p:cNvCxnSpPr/>
          <p:nvPr/>
        </p:nvCxnSpPr>
        <p:spPr>
          <a:xfrm>
            <a:off x="7589520" y="2240280"/>
            <a:ext cx="3959352" cy="0"/>
          </a:xfrm>
          <a:prstGeom prst="line">
            <a:avLst/>
          </a:prstGeom>
          <a:ln w="9525">
            <a:solidFill>
              <a:srgbClr val="CFC9BC"/>
            </a:solidFill>
          </a:ln>
        </p:spPr>
      </p:cxnSp>
      <p:sp>
        <p:nvSpPr>
          <p:cNvPr id="21" name="TextBox 20"/>
          <p:cNvSpPr txBox="1"/>
          <p:nvPr/>
        </p:nvSpPr>
        <p:spPr>
          <a:xfrm>
            <a:off x="7589520" y="2331720"/>
            <a:ext cx="320040" cy="320040"/>
          </a:xfrm>
          <a:prstGeom prst="rect">
            <a:avLst/>
          </a:prstGeom>
          <a:noFill/>
        </p:spPr>
        <p:txBody>
          <a:bodyPr wrap="square" lIns="0" tIns="0" rIns="0" bIns="0" anchor="t">
            <a:spAutoFit/>
          </a:bodyPr>
          <a:lstStyle/>
          <a:p>
            <a:pPr algn="l"/>
            <a:r>
              <a:rPr sz="1500" b="1" i="0">
                <a:solidFill>
                  <a:srgbClr val="D24E25"/>
                </a:solidFill>
                <a:latin typeface="Segoe UI Symbol"/>
              </a:rPr>
              <a:t>✓</a:t>
            </a:r>
          </a:p>
        </p:txBody>
      </p:sp>
      <p:sp>
        <p:nvSpPr>
          <p:cNvPr id="22" name="TextBox 21"/>
          <p:cNvSpPr txBox="1"/>
          <p:nvPr/>
        </p:nvSpPr>
        <p:spPr>
          <a:xfrm>
            <a:off x="7955280" y="2313432"/>
            <a:ext cx="3566160" cy="320040"/>
          </a:xfrm>
          <a:prstGeom prst="rect">
            <a:avLst/>
          </a:prstGeom>
          <a:noFill/>
        </p:spPr>
        <p:txBody>
          <a:bodyPr wrap="square" lIns="0" tIns="0" rIns="0" bIns="0" anchor="t">
            <a:spAutoFit/>
          </a:bodyPr>
          <a:lstStyle/>
          <a:p>
            <a:pPr algn="l"/>
            <a:r>
              <a:rPr sz="1500" b="0" i="0">
                <a:solidFill>
                  <a:srgbClr val="171717"/>
                </a:solidFill>
                <a:latin typeface="Georgia"/>
              </a:rPr>
              <a:t>Single source of truth</a:t>
            </a:r>
          </a:p>
        </p:txBody>
      </p:sp>
      <p:sp>
        <p:nvSpPr>
          <p:cNvPr id="23" name="TextBox 22"/>
          <p:cNvSpPr txBox="1"/>
          <p:nvPr/>
        </p:nvSpPr>
        <p:spPr>
          <a:xfrm>
            <a:off x="7955280" y="2651760"/>
            <a:ext cx="3566160" cy="365760"/>
          </a:xfrm>
          <a:prstGeom prst="rect">
            <a:avLst/>
          </a:prstGeom>
          <a:noFill/>
        </p:spPr>
        <p:txBody>
          <a:bodyPr wrap="square" lIns="0" tIns="0" rIns="0" bIns="0" anchor="t">
            <a:spAutoFit/>
          </a:bodyPr>
          <a:lstStyle/>
          <a:p>
            <a:pPr algn="l"/>
            <a:r>
              <a:rPr sz="1200" b="0" i="0">
                <a:solidFill>
                  <a:srgbClr val="6B6760"/>
                </a:solidFill>
                <a:latin typeface="Segoe UI"/>
              </a:rPr>
              <a:t>Every deploy and rollback was a Git commit.</a:t>
            </a:r>
          </a:p>
        </p:txBody>
      </p:sp>
      <p:cxnSp>
        <p:nvCxnSpPr>
          <p:cNvPr id="24" name="Connector 23"/>
          <p:cNvCxnSpPr/>
          <p:nvPr/>
        </p:nvCxnSpPr>
        <p:spPr>
          <a:xfrm>
            <a:off x="7589520" y="3108960"/>
            <a:ext cx="3959352" cy="0"/>
          </a:xfrm>
          <a:prstGeom prst="line">
            <a:avLst/>
          </a:prstGeom>
          <a:ln w="9525">
            <a:solidFill>
              <a:srgbClr val="CFC9BC"/>
            </a:solidFill>
          </a:ln>
        </p:spPr>
      </p:cxnSp>
      <p:sp>
        <p:nvSpPr>
          <p:cNvPr id="25" name="TextBox 24"/>
          <p:cNvSpPr txBox="1"/>
          <p:nvPr/>
        </p:nvSpPr>
        <p:spPr>
          <a:xfrm>
            <a:off x="7589520" y="3200400"/>
            <a:ext cx="320040" cy="320040"/>
          </a:xfrm>
          <a:prstGeom prst="rect">
            <a:avLst/>
          </a:prstGeom>
          <a:noFill/>
        </p:spPr>
        <p:txBody>
          <a:bodyPr wrap="square" lIns="0" tIns="0" rIns="0" bIns="0" anchor="t">
            <a:spAutoFit/>
          </a:bodyPr>
          <a:lstStyle/>
          <a:p>
            <a:pPr algn="l"/>
            <a:r>
              <a:rPr sz="1500" b="1" i="0">
                <a:solidFill>
                  <a:srgbClr val="D24E25"/>
                </a:solidFill>
                <a:latin typeface="Segoe UI Symbol"/>
              </a:rPr>
              <a:t>✓</a:t>
            </a:r>
          </a:p>
        </p:txBody>
      </p:sp>
      <p:sp>
        <p:nvSpPr>
          <p:cNvPr id="26" name="TextBox 25"/>
          <p:cNvSpPr txBox="1"/>
          <p:nvPr/>
        </p:nvSpPr>
        <p:spPr>
          <a:xfrm>
            <a:off x="7955280" y="3182112"/>
            <a:ext cx="3566160" cy="320040"/>
          </a:xfrm>
          <a:prstGeom prst="rect">
            <a:avLst/>
          </a:prstGeom>
          <a:noFill/>
        </p:spPr>
        <p:txBody>
          <a:bodyPr wrap="square" lIns="0" tIns="0" rIns="0" bIns="0" anchor="t">
            <a:spAutoFit/>
          </a:bodyPr>
          <a:lstStyle/>
          <a:p>
            <a:pPr algn="l"/>
            <a:r>
              <a:rPr sz="1500" b="0" i="0">
                <a:solidFill>
                  <a:srgbClr val="171717"/>
                </a:solidFill>
                <a:latin typeface="Georgia"/>
              </a:rPr>
              <a:t>Automated reconciliation</a:t>
            </a:r>
          </a:p>
        </p:txBody>
      </p:sp>
      <p:sp>
        <p:nvSpPr>
          <p:cNvPr id="27" name="TextBox 26"/>
          <p:cNvSpPr txBox="1"/>
          <p:nvPr/>
        </p:nvSpPr>
        <p:spPr>
          <a:xfrm>
            <a:off x="7955280" y="3520440"/>
            <a:ext cx="3566160" cy="365760"/>
          </a:xfrm>
          <a:prstGeom prst="rect">
            <a:avLst/>
          </a:prstGeom>
          <a:noFill/>
        </p:spPr>
        <p:txBody>
          <a:bodyPr wrap="square" lIns="0" tIns="0" rIns="0" bIns="0" anchor="t">
            <a:spAutoFit/>
          </a:bodyPr>
          <a:lstStyle/>
          <a:p>
            <a:pPr algn="l"/>
            <a:r>
              <a:rPr sz="1200" b="0" i="0">
                <a:solidFill>
                  <a:srgbClr val="6B6760"/>
                </a:solidFill>
                <a:latin typeface="Segoe UI"/>
              </a:rPr>
              <a:t>ArgoCD synced with no manual step.</a:t>
            </a:r>
          </a:p>
        </p:txBody>
      </p:sp>
      <p:cxnSp>
        <p:nvCxnSpPr>
          <p:cNvPr id="28" name="Connector 27"/>
          <p:cNvCxnSpPr/>
          <p:nvPr/>
        </p:nvCxnSpPr>
        <p:spPr>
          <a:xfrm>
            <a:off x="7589520" y="3977639"/>
            <a:ext cx="3959352" cy="0"/>
          </a:xfrm>
          <a:prstGeom prst="line">
            <a:avLst/>
          </a:prstGeom>
          <a:ln w="9525">
            <a:solidFill>
              <a:srgbClr val="CFC9BC"/>
            </a:solidFill>
          </a:ln>
        </p:spPr>
      </p:cxnSp>
      <p:sp>
        <p:nvSpPr>
          <p:cNvPr id="29" name="TextBox 28"/>
          <p:cNvSpPr txBox="1"/>
          <p:nvPr/>
        </p:nvSpPr>
        <p:spPr>
          <a:xfrm>
            <a:off x="7589520" y="4069079"/>
            <a:ext cx="320040" cy="320040"/>
          </a:xfrm>
          <a:prstGeom prst="rect">
            <a:avLst/>
          </a:prstGeom>
          <a:noFill/>
        </p:spPr>
        <p:txBody>
          <a:bodyPr wrap="square" lIns="0" tIns="0" rIns="0" bIns="0" anchor="t">
            <a:spAutoFit/>
          </a:bodyPr>
          <a:lstStyle/>
          <a:p>
            <a:pPr algn="l"/>
            <a:r>
              <a:rPr sz="1500" b="1" i="0">
                <a:solidFill>
                  <a:srgbClr val="D24E25"/>
                </a:solidFill>
                <a:latin typeface="Segoe UI Symbol"/>
              </a:rPr>
              <a:t>✓</a:t>
            </a:r>
          </a:p>
        </p:txBody>
      </p:sp>
      <p:sp>
        <p:nvSpPr>
          <p:cNvPr id="30" name="TextBox 29"/>
          <p:cNvSpPr txBox="1"/>
          <p:nvPr/>
        </p:nvSpPr>
        <p:spPr>
          <a:xfrm>
            <a:off x="7955280" y="4050791"/>
            <a:ext cx="3566160" cy="320040"/>
          </a:xfrm>
          <a:prstGeom prst="rect">
            <a:avLst/>
          </a:prstGeom>
          <a:noFill/>
        </p:spPr>
        <p:txBody>
          <a:bodyPr wrap="square" lIns="0" tIns="0" rIns="0" bIns="0" anchor="t">
            <a:spAutoFit/>
          </a:bodyPr>
          <a:lstStyle/>
          <a:p>
            <a:pPr algn="l"/>
            <a:r>
              <a:rPr sz="1500" b="0" i="0">
                <a:solidFill>
                  <a:srgbClr val="171717"/>
                </a:solidFill>
                <a:latin typeface="Georgia"/>
              </a:rPr>
              <a:t>Zero drift</a:t>
            </a:r>
          </a:p>
        </p:txBody>
      </p:sp>
      <p:sp>
        <p:nvSpPr>
          <p:cNvPr id="31" name="TextBox 30"/>
          <p:cNvSpPr txBox="1"/>
          <p:nvPr/>
        </p:nvSpPr>
        <p:spPr>
          <a:xfrm>
            <a:off x="7955280" y="4389120"/>
            <a:ext cx="3566160" cy="365760"/>
          </a:xfrm>
          <a:prstGeom prst="rect">
            <a:avLst/>
          </a:prstGeom>
          <a:noFill/>
        </p:spPr>
        <p:txBody>
          <a:bodyPr wrap="square" lIns="0" tIns="0" rIns="0" bIns="0" anchor="t">
            <a:spAutoFit/>
          </a:bodyPr>
          <a:lstStyle/>
          <a:p>
            <a:pPr algn="l"/>
            <a:r>
              <a:rPr sz="1200" b="0" i="0">
                <a:solidFill>
                  <a:srgbClr val="6B6760"/>
                </a:solidFill>
                <a:latin typeface="Segoe UI"/>
              </a:rPr>
              <a:t>Extra pods and the deleted service came back.</a:t>
            </a:r>
          </a:p>
        </p:txBody>
      </p:sp>
      <p:cxnSp>
        <p:nvCxnSpPr>
          <p:cNvPr id="32" name="Connector 31"/>
          <p:cNvCxnSpPr/>
          <p:nvPr/>
        </p:nvCxnSpPr>
        <p:spPr>
          <a:xfrm>
            <a:off x="7589520" y="4846320"/>
            <a:ext cx="3959352" cy="0"/>
          </a:xfrm>
          <a:prstGeom prst="line">
            <a:avLst/>
          </a:prstGeom>
          <a:ln w="9525">
            <a:solidFill>
              <a:srgbClr val="CFC9BC"/>
            </a:solidFill>
          </a:ln>
        </p:spPr>
      </p:cxnSp>
      <p:sp>
        <p:nvSpPr>
          <p:cNvPr id="33" name="TextBox 32"/>
          <p:cNvSpPr txBox="1"/>
          <p:nvPr/>
        </p:nvSpPr>
        <p:spPr>
          <a:xfrm>
            <a:off x="7589520" y="4937759"/>
            <a:ext cx="320040" cy="320040"/>
          </a:xfrm>
          <a:prstGeom prst="rect">
            <a:avLst/>
          </a:prstGeom>
          <a:noFill/>
        </p:spPr>
        <p:txBody>
          <a:bodyPr wrap="square" lIns="0" tIns="0" rIns="0" bIns="0" anchor="t">
            <a:spAutoFit/>
          </a:bodyPr>
          <a:lstStyle/>
          <a:p>
            <a:pPr algn="l"/>
            <a:r>
              <a:rPr sz="1500" b="1" i="0">
                <a:solidFill>
                  <a:srgbClr val="D24E25"/>
                </a:solidFill>
                <a:latin typeface="Segoe UI Symbol"/>
              </a:rPr>
              <a:t>✓</a:t>
            </a:r>
          </a:p>
        </p:txBody>
      </p:sp>
      <p:sp>
        <p:nvSpPr>
          <p:cNvPr id="34" name="TextBox 33"/>
          <p:cNvSpPr txBox="1"/>
          <p:nvPr/>
        </p:nvSpPr>
        <p:spPr>
          <a:xfrm>
            <a:off x="7955280" y="4919472"/>
            <a:ext cx="3566160" cy="320040"/>
          </a:xfrm>
          <a:prstGeom prst="rect">
            <a:avLst/>
          </a:prstGeom>
          <a:noFill/>
        </p:spPr>
        <p:txBody>
          <a:bodyPr wrap="square" lIns="0" tIns="0" rIns="0" bIns="0" anchor="t">
            <a:spAutoFit/>
          </a:bodyPr>
          <a:lstStyle/>
          <a:p>
            <a:pPr algn="l"/>
            <a:r>
              <a:rPr sz="1500" b="0" i="0">
                <a:solidFill>
                  <a:srgbClr val="171717"/>
                </a:solidFill>
                <a:latin typeface="Georgia"/>
              </a:rPr>
              <a:t>No credentials outside</a:t>
            </a:r>
          </a:p>
        </p:txBody>
      </p:sp>
      <p:sp>
        <p:nvSpPr>
          <p:cNvPr id="35" name="TextBox 34"/>
          <p:cNvSpPr txBox="1"/>
          <p:nvPr/>
        </p:nvSpPr>
        <p:spPr>
          <a:xfrm>
            <a:off x="7955280" y="5257800"/>
            <a:ext cx="3566160" cy="365760"/>
          </a:xfrm>
          <a:prstGeom prst="rect">
            <a:avLst/>
          </a:prstGeom>
          <a:noFill/>
        </p:spPr>
        <p:txBody>
          <a:bodyPr wrap="square" lIns="0" tIns="0" rIns="0" bIns="0" anchor="t">
            <a:spAutoFit/>
          </a:bodyPr>
          <a:lstStyle/>
          <a:p>
            <a:pPr algn="l"/>
            <a:r>
              <a:rPr sz="1200" b="0" i="0">
                <a:solidFill>
                  <a:srgbClr val="6B6760"/>
                </a:solidFill>
                <a:latin typeface="Segoe UI"/>
              </a:rPr>
              <a:t>CI had Git access only.</a:t>
            </a:r>
          </a:p>
        </p:txBody>
      </p:sp>
      <p:sp>
        <p:nvSpPr>
          <p:cNvPr id="36" name="TextBox 35"/>
          <p:cNvSpPr txBox="1"/>
          <p:nvPr/>
        </p:nvSpPr>
        <p:spPr>
          <a:xfrm>
            <a:off x="640080" y="5760720"/>
            <a:ext cx="10881360" cy="365760"/>
          </a:xfrm>
          <a:prstGeom prst="rect">
            <a:avLst/>
          </a:prstGeom>
          <a:noFill/>
        </p:spPr>
        <p:txBody>
          <a:bodyPr wrap="square" lIns="0" tIns="0" rIns="0" bIns="0" anchor="t">
            <a:spAutoFit/>
          </a:bodyPr>
          <a:lstStyle/>
          <a:p>
            <a:pPr algn="l"/>
            <a:r>
              <a:rPr sz="1200" b="0" i="0">
                <a:solidFill>
                  <a:srgbClr val="6B6760"/>
                </a:solidFill>
                <a:latin typeface="Consolas"/>
              </a:rPr>
              <a:t>ArgoCD polling Git every 10 s. A failing unit test stopped the release before any image was built.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274320"/>
          </a:xfrm>
          <a:prstGeom prst="rect">
            <a:avLst/>
          </a:prstGeom>
          <a:noFill/>
        </p:spPr>
        <p:txBody>
          <a:bodyPr wrap="square" lIns="0" tIns="0" rIns="0" bIns="0" anchor="t">
            <a:spAutoFit/>
          </a:bodyPr>
          <a:lstStyle/>
          <a:p>
            <a:pPr algn="l"/>
            <a:r>
              <a:rPr sz="1100" b="0" i="0">
                <a:solidFill>
                  <a:srgbClr val="D24E25"/>
                </a:solidFill>
                <a:latin typeface="Consolas"/>
              </a:rPr>
              <a:t>11   Takeaways</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400" b="0" i="0">
                <a:solidFill>
                  <a:srgbClr val="171717"/>
                </a:solidFill>
                <a:latin typeface="Georgia"/>
              </a:rPr>
              <a:t>What we learned, and what we would add next</a:t>
            </a:r>
          </a:p>
        </p:txBody>
      </p:sp>
      <p:cxnSp>
        <p:nvCxnSpPr>
          <p:cNvPr id="4" name="Connector 3"/>
          <p:cNvCxnSpPr/>
          <p:nvPr/>
        </p:nvCxnSpPr>
        <p:spPr>
          <a:xfrm>
            <a:off x="640080" y="6355080"/>
            <a:ext cx="10908792" cy="0"/>
          </a:xfrm>
          <a:prstGeom prst="line">
            <a:avLst/>
          </a:prstGeom>
          <a:ln w="9525">
            <a:solidFill>
              <a:srgbClr val="CFC9BC"/>
            </a:solidFill>
          </a:ln>
        </p:spPr>
      </p:cxnSp>
      <p:sp>
        <p:nvSpPr>
          <p:cNvPr id="5" name="TextBox 4"/>
          <p:cNvSpPr txBox="1"/>
          <p:nvPr/>
        </p:nvSpPr>
        <p:spPr>
          <a:xfrm>
            <a:off x="640080" y="6428232"/>
            <a:ext cx="5486400" cy="228600"/>
          </a:xfrm>
          <a:prstGeom prst="rect">
            <a:avLst/>
          </a:prstGeom>
          <a:noFill/>
        </p:spPr>
        <p:txBody>
          <a:bodyPr wrap="square" lIns="0" tIns="0" rIns="0" bIns="0" anchor="t">
            <a:spAutoFit/>
          </a:bodyPr>
          <a:lstStyle/>
          <a:p>
            <a:pPr algn="l"/>
            <a:r>
              <a:rPr sz="900" b="0" i="0">
                <a:solidFill>
                  <a:srgbClr val="6B6760"/>
                </a:solidFill>
                <a:latin typeface="Consolas"/>
              </a:rPr>
              <a:t>GitOps continuous deployment with ArgoCD</a:t>
            </a:r>
          </a:p>
        </p:txBody>
      </p:sp>
      <p:sp>
        <p:nvSpPr>
          <p:cNvPr id="6" name="TextBox 5"/>
          <p:cNvSpPr txBox="1"/>
          <p:nvPr/>
        </p:nvSpPr>
        <p:spPr>
          <a:xfrm>
            <a:off x="9720072" y="6428232"/>
            <a:ext cx="1828800" cy="228600"/>
          </a:xfrm>
          <a:prstGeom prst="rect">
            <a:avLst/>
          </a:prstGeom>
          <a:noFill/>
        </p:spPr>
        <p:txBody>
          <a:bodyPr wrap="square" lIns="0" tIns="0" rIns="0" bIns="0" anchor="t">
            <a:spAutoFit/>
          </a:bodyPr>
          <a:lstStyle/>
          <a:p>
            <a:pPr algn="r"/>
            <a:r>
              <a:rPr sz="900" b="0" i="0">
                <a:solidFill>
                  <a:srgbClr val="6B6760"/>
                </a:solidFill>
                <a:latin typeface="Consolas"/>
              </a:rPr>
              <a:t>11 / 12</a:t>
            </a:r>
          </a:p>
        </p:txBody>
      </p:sp>
      <p:sp>
        <p:nvSpPr>
          <p:cNvPr id="7" name="TextBox 6"/>
          <p:cNvSpPr txBox="1"/>
          <p:nvPr/>
        </p:nvSpPr>
        <p:spPr>
          <a:xfrm>
            <a:off x="640080" y="1828800"/>
            <a:ext cx="5120640" cy="274320"/>
          </a:xfrm>
          <a:prstGeom prst="rect">
            <a:avLst/>
          </a:prstGeom>
          <a:noFill/>
        </p:spPr>
        <p:txBody>
          <a:bodyPr wrap="square" lIns="0" tIns="0" rIns="0" bIns="0" anchor="t">
            <a:spAutoFit/>
          </a:bodyPr>
          <a:lstStyle/>
          <a:p>
            <a:pPr algn="l"/>
            <a:r>
              <a:rPr sz="1000" b="0" i="0">
                <a:solidFill>
                  <a:srgbClr val="D24E25"/>
                </a:solidFill>
                <a:latin typeface="Consolas"/>
              </a:rPr>
              <a:t>LEARNED</a:t>
            </a:r>
          </a:p>
        </p:txBody>
      </p:sp>
      <p:cxnSp>
        <p:nvCxnSpPr>
          <p:cNvPr id="8" name="Connector 7"/>
          <p:cNvCxnSpPr/>
          <p:nvPr/>
        </p:nvCxnSpPr>
        <p:spPr>
          <a:xfrm>
            <a:off x="640080" y="2148840"/>
            <a:ext cx="5148072" cy="0"/>
          </a:xfrm>
          <a:prstGeom prst="line">
            <a:avLst/>
          </a:prstGeom>
          <a:ln w="12700">
            <a:solidFill>
              <a:srgbClr val="171717"/>
            </a:solidFill>
          </a:ln>
        </p:spPr>
      </p:cxnSp>
      <p:sp>
        <p:nvSpPr>
          <p:cNvPr id="9" name="TextBox 8"/>
          <p:cNvSpPr txBox="1"/>
          <p:nvPr/>
        </p:nvSpPr>
        <p:spPr>
          <a:xfrm>
            <a:off x="640080" y="2331720"/>
            <a:ext cx="5120640" cy="365760"/>
          </a:xfrm>
          <a:prstGeom prst="rect">
            <a:avLst/>
          </a:prstGeom>
          <a:noFill/>
        </p:spPr>
        <p:txBody>
          <a:bodyPr wrap="square" lIns="0" tIns="0" rIns="0" bIns="0" anchor="t">
            <a:spAutoFit/>
          </a:bodyPr>
          <a:lstStyle/>
          <a:p>
            <a:pPr algn="l"/>
            <a:r>
              <a:rPr sz="1800" b="0" i="0">
                <a:solidFill>
                  <a:srgbClr val="171717"/>
                </a:solidFill>
                <a:latin typeface="Georgia"/>
              </a:rPr>
              <a:t>Two repos, two histories.</a:t>
            </a:r>
          </a:p>
        </p:txBody>
      </p:sp>
      <p:sp>
        <p:nvSpPr>
          <p:cNvPr id="10" name="TextBox 9"/>
          <p:cNvSpPr txBox="1"/>
          <p:nvPr/>
        </p:nvSpPr>
        <p:spPr>
          <a:xfrm>
            <a:off x="640080" y="2715768"/>
            <a:ext cx="5029200" cy="731520"/>
          </a:xfrm>
          <a:prstGeom prst="rect">
            <a:avLst/>
          </a:prstGeom>
          <a:noFill/>
        </p:spPr>
        <p:txBody>
          <a:bodyPr wrap="square" lIns="0" tIns="0" rIns="0" bIns="0" anchor="t">
            <a:spAutoFit/>
          </a:bodyPr>
          <a:lstStyle/>
          <a:p>
            <a:pPr algn="l"/>
            <a:r>
              <a:rPr sz="1300" b="0" i="0">
                <a:solidFill>
                  <a:srgbClr val="6B6760"/>
                </a:solidFill>
                <a:latin typeface="Segoe UI"/>
              </a:rPr>
              <a:t>App commits and deploy commits stay apart, so CI commits can't retrigger CI.</a:t>
            </a:r>
          </a:p>
        </p:txBody>
      </p:sp>
      <p:sp>
        <p:nvSpPr>
          <p:cNvPr id="11" name="TextBox 10"/>
          <p:cNvSpPr txBox="1"/>
          <p:nvPr/>
        </p:nvSpPr>
        <p:spPr>
          <a:xfrm>
            <a:off x="640080" y="3227832"/>
            <a:ext cx="5120640" cy="365760"/>
          </a:xfrm>
          <a:prstGeom prst="rect">
            <a:avLst/>
          </a:prstGeom>
          <a:noFill/>
        </p:spPr>
        <p:txBody>
          <a:bodyPr wrap="square" lIns="0" tIns="0" rIns="0" bIns="0" anchor="t">
            <a:spAutoFit/>
          </a:bodyPr>
          <a:lstStyle/>
          <a:p>
            <a:pPr algn="l"/>
            <a:r>
              <a:rPr sz="1800" b="0" i="0">
                <a:solidFill>
                  <a:srgbClr val="171717"/>
                </a:solidFill>
                <a:latin typeface="Georgia"/>
              </a:rPr>
              <a:t>Git log is the deploy log.</a:t>
            </a:r>
          </a:p>
        </p:txBody>
      </p:sp>
      <p:sp>
        <p:nvSpPr>
          <p:cNvPr id="12" name="TextBox 11"/>
          <p:cNvSpPr txBox="1"/>
          <p:nvPr/>
        </p:nvSpPr>
        <p:spPr>
          <a:xfrm>
            <a:off x="640080" y="3611879"/>
            <a:ext cx="5029200" cy="731520"/>
          </a:xfrm>
          <a:prstGeom prst="rect">
            <a:avLst/>
          </a:prstGeom>
          <a:noFill/>
        </p:spPr>
        <p:txBody>
          <a:bodyPr wrap="square" lIns="0" tIns="0" rIns="0" bIns="0" anchor="t">
            <a:spAutoFit/>
          </a:bodyPr>
          <a:lstStyle/>
          <a:p>
            <a:pPr algn="l"/>
            <a:r>
              <a:rPr sz="1300" b="0" i="0">
                <a:solidFill>
                  <a:srgbClr val="6B6760"/>
                </a:solidFill>
                <a:latin typeface="Segoe UI"/>
              </a:rPr>
              <a:t>Who changed what in production, and when, is a git log away.</a:t>
            </a:r>
          </a:p>
        </p:txBody>
      </p:sp>
      <p:sp>
        <p:nvSpPr>
          <p:cNvPr id="13" name="TextBox 12"/>
          <p:cNvSpPr txBox="1"/>
          <p:nvPr/>
        </p:nvSpPr>
        <p:spPr>
          <a:xfrm>
            <a:off x="640080" y="4123944"/>
            <a:ext cx="5120640" cy="365760"/>
          </a:xfrm>
          <a:prstGeom prst="rect">
            <a:avLst/>
          </a:prstGeom>
          <a:noFill/>
        </p:spPr>
        <p:txBody>
          <a:bodyPr wrap="square" lIns="0" tIns="0" rIns="0" bIns="0" anchor="t">
            <a:spAutoFit/>
          </a:bodyPr>
          <a:lstStyle/>
          <a:p>
            <a:pPr algn="l"/>
            <a:r>
              <a:rPr sz="1800" b="0" i="0">
                <a:solidFill>
                  <a:srgbClr val="171717"/>
                </a:solidFill>
                <a:latin typeface="Georgia"/>
              </a:rPr>
              <a:t>Declarative YAML can be reviewed.</a:t>
            </a:r>
          </a:p>
        </p:txBody>
      </p:sp>
      <p:sp>
        <p:nvSpPr>
          <p:cNvPr id="14" name="TextBox 13"/>
          <p:cNvSpPr txBox="1"/>
          <p:nvPr/>
        </p:nvSpPr>
        <p:spPr>
          <a:xfrm>
            <a:off x="640080" y="4507992"/>
            <a:ext cx="5029200" cy="731520"/>
          </a:xfrm>
          <a:prstGeom prst="rect">
            <a:avLst/>
          </a:prstGeom>
          <a:noFill/>
        </p:spPr>
        <p:txBody>
          <a:bodyPr wrap="square" lIns="0" tIns="0" rIns="0" bIns="0" anchor="t">
            <a:spAutoFit/>
          </a:bodyPr>
          <a:lstStyle/>
          <a:p>
            <a:pPr algn="l"/>
            <a:r>
              <a:rPr sz="1300" b="0" i="0">
                <a:solidFill>
                  <a:srgbClr val="6B6760"/>
                </a:solidFill>
                <a:latin typeface="Segoe UI"/>
              </a:rPr>
              <a:t>A change to the cluster is a diff someone can read before it merges.</a:t>
            </a:r>
          </a:p>
        </p:txBody>
      </p:sp>
      <p:sp>
        <p:nvSpPr>
          <p:cNvPr id="15" name="TextBox 14"/>
          <p:cNvSpPr txBox="1"/>
          <p:nvPr/>
        </p:nvSpPr>
        <p:spPr>
          <a:xfrm>
            <a:off x="6400800" y="1828800"/>
            <a:ext cx="5120640" cy="274320"/>
          </a:xfrm>
          <a:prstGeom prst="rect">
            <a:avLst/>
          </a:prstGeom>
          <a:noFill/>
        </p:spPr>
        <p:txBody>
          <a:bodyPr wrap="square" lIns="0" tIns="0" rIns="0" bIns="0" anchor="t">
            <a:spAutoFit/>
          </a:bodyPr>
          <a:lstStyle/>
          <a:p>
            <a:pPr algn="l"/>
            <a:r>
              <a:rPr sz="1000" b="0" i="0">
                <a:solidFill>
                  <a:srgbClr val="D24E25"/>
                </a:solidFill>
                <a:latin typeface="Consolas"/>
              </a:rPr>
              <a:t>NEXT</a:t>
            </a:r>
          </a:p>
        </p:txBody>
      </p:sp>
      <p:cxnSp>
        <p:nvCxnSpPr>
          <p:cNvPr id="16" name="Connector 15"/>
          <p:cNvCxnSpPr/>
          <p:nvPr/>
        </p:nvCxnSpPr>
        <p:spPr>
          <a:xfrm>
            <a:off x="6400800" y="2148840"/>
            <a:ext cx="5148072" cy="0"/>
          </a:xfrm>
          <a:prstGeom prst="line">
            <a:avLst/>
          </a:prstGeom>
          <a:ln w="12700">
            <a:solidFill>
              <a:srgbClr val="171717"/>
            </a:solidFill>
          </a:ln>
        </p:spPr>
      </p:cxnSp>
      <p:sp>
        <p:nvSpPr>
          <p:cNvPr id="17" name="TextBox 16"/>
          <p:cNvSpPr txBox="1"/>
          <p:nvPr/>
        </p:nvSpPr>
        <p:spPr>
          <a:xfrm>
            <a:off x="6400800" y="2331720"/>
            <a:ext cx="5120640" cy="365760"/>
          </a:xfrm>
          <a:prstGeom prst="rect">
            <a:avLst/>
          </a:prstGeom>
          <a:noFill/>
        </p:spPr>
        <p:txBody>
          <a:bodyPr wrap="square" lIns="0" tIns="0" rIns="0" bIns="0" anchor="t">
            <a:spAutoFit/>
          </a:bodyPr>
          <a:lstStyle/>
          <a:p>
            <a:pPr algn="l"/>
            <a:r>
              <a:rPr sz="1800" b="0" i="0">
                <a:solidFill>
                  <a:srgbClr val="171717"/>
                </a:solidFill>
                <a:latin typeface="Georgia"/>
              </a:rPr>
              <a:t>Helm or Kustomize</a:t>
            </a:r>
          </a:p>
        </p:txBody>
      </p:sp>
      <p:sp>
        <p:nvSpPr>
          <p:cNvPr id="18" name="TextBox 17"/>
          <p:cNvSpPr txBox="1"/>
          <p:nvPr/>
        </p:nvSpPr>
        <p:spPr>
          <a:xfrm>
            <a:off x="6400800" y="2715768"/>
            <a:ext cx="5029200" cy="731520"/>
          </a:xfrm>
          <a:prstGeom prst="rect">
            <a:avLst/>
          </a:prstGeom>
          <a:noFill/>
        </p:spPr>
        <p:txBody>
          <a:bodyPr wrap="square" lIns="0" tIns="0" rIns="0" bIns="0" anchor="t">
            <a:spAutoFit/>
          </a:bodyPr>
          <a:lstStyle/>
          <a:p>
            <a:pPr algn="l"/>
            <a:r>
              <a:rPr sz="1300" b="0" i="0">
                <a:solidFill>
                  <a:srgbClr val="6B6760"/>
                </a:solidFill>
                <a:latin typeface="Segoe UI"/>
              </a:rPr>
              <a:t>One chart, separate values for staging and production.</a:t>
            </a:r>
          </a:p>
        </p:txBody>
      </p:sp>
      <p:sp>
        <p:nvSpPr>
          <p:cNvPr id="19" name="TextBox 18"/>
          <p:cNvSpPr txBox="1"/>
          <p:nvPr/>
        </p:nvSpPr>
        <p:spPr>
          <a:xfrm>
            <a:off x="6400800" y="3227832"/>
            <a:ext cx="5120640" cy="365760"/>
          </a:xfrm>
          <a:prstGeom prst="rect">
            <a:avLst/>
          </a:prstGeom>
          <a:noFill/>
        </p:spPr>
        <p:txBody>
          <a:bodyPr wrap="square" lIns="0" tIns="0" rIns="0" bIns="0" anchor="t">
            <a:spAutoFit/>
          </a:bodyPr>
          <a:lstStyle/>
          <a:p>
            <a:pPr algn="l"/>
            <a:r>
              <a:rPr sz="1800" b="0" i="0">
                <a:solidFill>
                  <a:srgbClr val="171717"/>
                </a:solidFill>
                <a:latin typeface="Georgia"/>
              </a:rPr>
              <a:t>Git webhooks</a:t>
            </a:r>
          </a:p>
        </p:txBody>
      </p:sp>
      <p:sp>
        <p:nvSpPr>
          <p:cNvPr id="20" name="TextBox 19"/>
          <p:cNvSpPr txBox="1"/>
          <p:nvPr/>
        </p:nvSpPr>
        <p:spPr>
          <a:xfrm>
            <a:off x="6400800" y="3611879"/>
            <a:ext cx="5029200" cy="731520"/>
          </a:xfrm>
          <a:prstGeom prst="rect">
            <a:avLst/>
          </a:prstGeom>
          <a:noFill/>
        </p:spPr>
        <p:txBody>
          <a:bodyPr wrap="square" lIns="0" tIns="0" rIns="0" bIns="0" anchor="t">
            <a:spAutoFit/>
          </a:bodyPr>
          <a:lstStyle/>
          <a:p>
            <a:pPr algn="l"/>
            <a:r>
              <a:rPr sz="1300" b="0" i="0">
                <a:solidFill>
                  <a:srgbClr val="6B6760"/>
                </a:solidFill>
                <a:latin typeface="Segoe UI"/>
              </a:rPr>
              <a:t>Sync on push instead of every 10 seconds.</a:t>
            </a:r>
          </a:p>
        </p:txBody>
      </p:sp>
      <p:sp>
        <p:nvSpPr>
          <p:cNvPr id="21" name="TextBox 20"/>
          <p:cNvSpPr txBox="1"/>
          <p:nvPr/>
        </p:nvSpPr>
        <p:spPr>
          <a:xfrm>
            <a:off x="6400800" y="4123944"/>
            <a:ext cx="5120640" cy="365760"/>
          </a:xfrm>
          <a:prstGeom prst="rect">
            <a:avLst/>
          </a:prstGeom>
          <a:noFill/>
        </p:spPr>
        <p:txBody>
          <a:bodyPr wrap="square" lIns="0" tIns="0" rIns="0" bIns="0" anchor="t">
            <a:spAutoFit/>
          </a:bodyPr>
          <a:lstStyle/>
          <a:p>
            <a:pPr algn="l"/>
            <a:r>
              <a:rPr sz="1800" b="0" i="0">
                <a:solidFill>
                  <a:srgbClr val="171717"/>
                </a:solidFill>
                <a:latin typeface="Georgia"/>
              </a:rPr>
              <a:t>Sealed Secrets</a:t>
            </a:r>
          </a:p>
        </p:txBody>
      </p:sp>
      <p:sp>
        <p:nvSpPr>
          <p:cNvPr id="22" name="TextBox 21"/>
          <p:cNvSpPr txBox="1"/>
          <p:nvPr/>
        </p:nvSpPr>
        <p:spPr>
          <a:xfrm>
            <a:off x="6400800" y="4507992"/>
            <a:ext cx="5029200" cy="731520"/>
          </a:xfrm>
          <a:prstGeom prst="rect">
            <a:avLst/>
          </a:prstGeom>
          <a:noFill/>
        </p:spPr>
        <p:txBody>
          <a:bodyPr wrap="square" lIns="0" tIns="0" rIns="0" bIns="0" anchor="t">
            <a:spAutoFit/>
          </a:bodyPr>
          <a:lstStyle/>
          <a:p>
            <a:pPr algn="l"/>
            <a:r>
              <a:rPr sz="1300" b="0" i="0">
                <a:solidFill>
                  <a:srgbClr val="6B6760"/>
                </a:solidFill>
                <a:latin typeface="Segoe UI"/>
              </a:rPr>
              <a:t>Encrypted secrets that are safe to commit.</a:t>
            </a:r>
          </a:p>
        </p:txBody>
      </p:sp>
      <p:sp>
        <p:nvSpPr>
          <p:cNvPr id="23" name="TextBox 22"/>
          <p:cNvSpPr txBox="1"/>
          <p:nvPr/>
        </p:nvSpPr>
        <p:spPr>
          <a:xfrm>
            <a:off x="6400800" y="5020056"/>
            <a:ext cx="5120640" cy="365760"/>
          </a:xfrm>
          <a:prstGeom prst="rect">
            <a:avLst/>
          </a:prstGeom>
          <a:noFill/>
        </p:spPr>
        <p:txBody>
          <a:bodyPr wrap="square" lIns="0" tIns="0" rIns="0" bIns="0" anchor="t">
            <a:spAutoFit/>
          </a:bodyPr>
          <a:lstStyle/>
          <a:p>
            <a:pPr algn="l"/>
            <a:r>
              <a:rPr sz="1800" b="0" i="0">
                <a:solidFill>
                  <a:srgbClr val="171717"/>
                </a:solidFill>
                <a:latin typeface="Georgia"/>
              </a:rPr>
              <a:t>Promotion by pull request</a:t>
            </a:r>
          </a:p>
        </p:txBody>
      </p:sp>
      <p:sp>
        <p:nvSpPr>
          <p:cNvPr id="24" name="TextBox 23"/>
          <p:cNvSpPr txBox="1"/>
          <p:nvPr/>
        </p:nvSpPr>
        <p:spPr>
          <a:xfrm>
            <a:off x="6400800" y="5404104"/>
            <a:ext cx="5029200" cy="731520"/>
          </a:xfrm>
          <a:prstGeom prst="rect">
            <a:avLst/>
          </a:prstGeom>
          <a:noFill/>
        </p:spPr>
        <p:txBody>
          <a:bodyPr wrap="square" lIns="0" tIns="0" rIns="0" bIns="0" anchor="t">
            <a:spAutoFit/>
          </a:bodyPr>
          <a:lstStyle/>
          <a:p>
            <a:pPr algn="l"/>
            <a:r>
              <a:rPr sz="1300" b="0" i="0">
                <a:solidFill>
                  <a:srgbClr val="6B6760"/>
                </a:solidFill>
                <a:latin typeface="Segoe UI"/>
              </a:rPr>
              <a:t>Staging to production as a reviewed merge.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1"/>
          <p:cNvSpPr txBox="1"/>
          <p:nvPr/>
        </p:nvSpPr>
        <p:spPr>
          <a:xfrm>
            <a:off x="822960" y="731520"/>
            <a:ext cx="10058400" cy="274320"/>
          </a:xfrm>
          <a:prstGeom prst="rect">
            <a:avLst/>
          </a:prstGeom>
          <a:noFill/>
        </p:spPr>
        <p:txBody>
          <a:bodyPr wrap="square" lIns="0" tIns="0" rIns="0" bIns="0" anchor="t">
            <a:spAutoFit/>
          </a:bodyPr>
          <a:lstStyle/>
          <a:p>
            <a:pPr algn="l"/>
            <a:r>
              <a:rPr sz="1200" b="0" i="0">
                <a:solidFill>
                  <a:srgbClr val="D24E25"/>
                </a:solidFill>
                <a:latin typeface="Consolas"/>
              </a:rPr>
              <a:t>12   Questions</a:t>
            </a:r>
          </a:p>
        </p:txBody>
      </p:sp>
      <p:sp>
        <p:nvSpPr>
          <p:cNvPr id="3" name="TextBox 2"/>
          <p:cNvSpPr txBox="1"/>
          <p:nvPr/>
        </p:nvSpPr>
        <p:spPr>
          <a:xfrm>
            <a:off x="822960" y="2011680"/>
            <a:ext cx="10515600" cy="1280160"/>
          </a:xfrm>
          <a:prstGeom prst="rect">
            <a:avLst/>
          </a:prstGeom>
          <a:noFill/>
        </p:spPr>
        <p:txBody>
          <a:bodyPr wrap="square" lIns="0" tIns="0" rIns="0" bIns="0" anchor="t">
            <a:spAutoFit/>
          </a:bodyPr>
          <a:lstStyle/>
          <a:p>
            <a:pPr algn="l"/>
            <a:r>
              <a:rPr sz="7200" b="0" i="0">
                <a:solidFill>
                  <a:srgbClr val="EEEAE0"/>
                </a:solidFill>
                <a:latin typeface="Georgia"/>
              </a:rPr>
              <a:t>Questions?</a:t>
            </a:r>
          </a:p>
        </p:txBody>
      </p:sp>
      <p:sp>
        <p:nvSpPr>
          <p:cNvPr id="4" name="TextBox 3"/>
          <p:cNvSpPr txBox="1"/>
          <p:nvPr/>
        </p:nvSpPr>
        <p:spPr>
          <a:xfrm>
            <a:off x="822960" y="3566160"/>
            <a:ext cx="9601200" cy="914400"/>
          </a:xfrm>
          <a:prstGeom prst="rect">
            <a:avLst/>
          </a:prstGeom>
          <a:noFill/>
        </p:spPr>
        <p:txBody>
          <a:bodyPr wrap="square" lIns="0" tIns="0" rIns="0" bIns="0" anchor="t">
            <a:spAutoFit/>
          </a:bodyPr>
          <a:lstStyle/>
          <a:p>
            <a:pPr algn="l"/>
            <a:r>
              <a:rPr sz="2200" b="0" i="0">
                <a:solidFill>
                  <a:srgbClr val="9A968E"/>
                </a:solidFill>
                <a:latin typeface="Segoe UI"/>
              </a:rPr>
              <a:t>Git holds the desired state. ArgoCD makes the cluster match it.</a:t>
            </a:r>
          </a:p>
        </p:txBody>
      </p:sp>
      <p:cxnSp>
        <p:nvCxnSpPr>
          <p:cNvPr id="5" name="Connector 4"/>
          <p:cNvCxnSpPr/>
          <p:nvPr/>
        </p:nvCxnSpPr>
        <p:spPr>
          <a:xfrm>
            <a:off x="822960" y="5212080"/>
            <a:ext cx="10543032" cy="0"/>
          </a:xfrm>
          <a:prstGeom prst="line">
            <a:avLst/>
          </a:prstGeom>
          <a:ln w="9525">
            <a:solidFill>
              <a:srgbClr val="3A3A38"/>
            </a:solidFill>
          </a:ln>
        </p:spPr>
      </p:cxnSp>
      <p:sp>
        <p:nvSpPr>
          <p:cNvPr id="6" name="TextBox 5"/>
          <p:cNvSpPr txBox="1"/>
          <p:nvPr/>
        </p:nvSpPr>
        <p:spPr>
          <a:xfrm>
            <a:off x="822960" y="5394960"/>
            <a:ext cx="10058400" cy="365760"/>
          </a:xfrm>
          <a:prstGeom prst="rect">
            <a:avLst/>
          </a:prstGeom>
          <a:noFill/>
        </p:spPr>
        <p:txBody>
          <a:bodyPr wrap="square" lIns="0" tIns="0" rIns="0" bIns="0" anchor="t">
            <a:spAutoFit/>
          </a:bodyPr>
          <a:lstStyle/>
          <a:p>
            <a:pPr algn="l"/>
            <a:r>
              <a:rPr sz="1500" b="0" i="0">
                <a:solidFill>
                  <a:srgbClr val="EEEAE0"/>
                </a:solidFill>
                <a:latin typeface="Segoe UI"/>
              </a:rPr>
              <a:t>Name 1, Name 2, Name 3, Name 4</a:t>
            </a:r>
          </a:p>
        </p:txBody>
      </p:sp>
      <p:sp>
        <p:nvSpPr>
          <p:cNvPr id="7" name="TextBox 6"/>
          <p:cNvSpPr txBox="1"/>
          <p:nvPr/>
        </p:nvSpPr>
        <p:spPr>
          <a:xfrm>
            <a:off x="822960" y="5760720"/>
            <a:ext cx="10058400" cy="365760"/>
          </a:xfrm>
          <a:prstGeom prst="rect">
            <a:avLst/>
          </a:prstGeom>
          <a:noFill/>
        </p:spPr>
        <p:txBody>
          <a:bodyPr wrap="square" lIns="0" tIns="0" rIns="0" bIns="0" anchor="t">
            <a:spAutoFit/>
          </a:bodyPr>
          <a:lstStyle/>
          <a:p>
            <a:pPr algn="l"/>
            <a:r>
              <a:rPr sz="1200" b="0" i="0">
                <a:solidFill>
                  <a:srgbClr val="9A968E"/>
                </a:solidFill>
                <a:latin typeface="Consolas"/>
              </a:rPr>
              <a:t>Source, scripts and manifests:  gitops-project/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1940</Words>
  <Application>Microsoft Office PowerPoint</Application>
  <PresentationFormat>Widescreen</PresentationFormat>
  <Paragraphs>262</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Consolas</vt:lpstr>
      <vt:lpstr>Georgia</vt:lpstr>
      <vt:lpstr>Segoe UI</vt:lpstr>
      <vt:lpstr>Segoe UI Light</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Administrator</dc:creator>
  <cp:keywords/>
  <dc:description>generated using python-pptx</dc:description>
  <cp:lastModifiedBy>Administrator</cp:lastModifiedBy>
  <cp:revision>3</cp:revision>
  <dcterms:created xsi:type="dcterms:W3CDTF">2013-01-27T09:14:16Z</dcterms:created>
  <dcterms:modified xsi:type="dcterms:W3CDTF">2026-09-17T08:05:19Z</dcterms:modified>
  <cp:category/>
</cp:coreProperties>
</file>